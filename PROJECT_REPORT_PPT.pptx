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theme" Target="theme/them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1" name="Shape 21"/>
          <p:cNvSpPr/>
          <p:nvPr/>
        </p:nvSpPr>
        <p:spPr>
          <a:xfrm>
            <a:off x="594360" y="594360"/>
            <a:ext cx="109728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2" name="Shape 22"/>
          <p:cNvSpPr/>
          <p:nvPr/>
        </p:nvSpPr>
        <p:spPr>
          <a:xfrm>
            <a:off x="960120" y="1234440"/>
            <a:ext cx="1014984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3000" b="1">
                <a:solidFill>
                  <a:srgbClr val="0B172A"/>
                </a:solidFill>
                <a:latin typeface="Microsoft YaHei"/>
                <a:ea typeface="Microsoft YaHei"/>
              </a:rPr>
              <a:t>鱼体游动 FSI 显式弱耦合仿真</a:t>
            </a:r>
          </a:p>
        </p:txBody>
      </p:sp>
      <p:sp>
        <p:nvSpPr>
          <p:cNvPr id="23" name="Shape 23"/>
          <p:cNvSpPr/>
          <p:nvPr/>
        </p:nvSpPr>
        <p:spPr>
          <a:xfrm>
            <a:off x="1143000" y="1965960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1800" b="1">
                <a:solidFill>
                  <a:srgbClr val="2563EB"/>
                </a:solidFill>
                <a:latin typeface="Microsoft YaHei"/>
                <a:ea typeface="Microsoft YaHei"/>
              </a:rPr>
              <a:t>软体鱼 FEM · WCSPH 粒子流体 · VAP 近壁压力投影</a:t>
            </a:r>
          </a:p>
        </p:txBody>
      </p:sp>
      <p:sp>
        <p:nvSpPr>
          <p:cNvPr id="50" name="Shape 50"/>
          <p:cNvSpPr/>
          <p:nvPr/>
        </p:nvSpPr>
        <p:spPr>
          <a:xfrm>
            <a:off x="1097280" y="2971800"/>
            <a:ext cx="2148840" cy="7498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固体侧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SoftCon / PD</a:t>
            </a:r>
          </a:p>
        </p:txBody>
      </p:sp>
      <p:sp>
        <p:nvSpPr>
          <p:cNvPr id="51" name="Shape 51"/>
          <p:cNvSpPr/>
          <p:nvPr/>
        </p:nvSpPr>
        <p:spPr>
          <a:xfrm>
            <a:off x="3291839" y="3226734"/>
            <a:ext cx="320040" cy="23993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53" name="Shape 53"/>
          <p:cNvSpPr/>
          <p:nvPr/>
        </p:nvSpPr>
        <p:spPr>
          <a:xfrm>
            <a:off x="3657600" y="2971800"/>
            <a:ext cx="2148840" cy="7498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流体侧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WCSPH</a:t>
            </a:r>
          </a:p>
        </p:txBody>
      </p:sp>
      <p:sp>
        <p:nvSpPr>
          <p:cNvPr id="54" name="Shape 54"/>
          <p:cNvSpPr/>
          <p:nvPr/>
        </p:nvSpPr>
        <p:spPr>
          <a:xfrm>
            <a:off x="5852159" y="3226734"/>
            <a:ext cx="320040" cy="23993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56" name="Shape 56"/>
          <p:cNvSpPr/>
          <p:nvPr/>
        </p:nvSpPr>
        <p:spPr>
          <a:xfrm>
            <a:off x="6217920" y="2971800"/>
            <a:ext cx="2148840" cy="7498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近壁增强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VAP band</a:t>
            </a:r>
          </a:p>
        </p:txBody>
      </p:sp>
      <p:sp>
        <p:nvSpPr>
          <p:cNvPr id="57" name="Shape 57"/>
          <p:cNvSpPr/>
          <p:nvPr/>
        </p:nvSpPr>
        <p:spPr>
          <a:xfrm>
            <a:off x="8412480" y="3226734"/>
            <a:ext cx="320040" cy="23993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59" name="Shape 59"/>
          <p:cNvSpPr/>
          <p:nvPr/>
        </p:nvSpPr>
        <p:spPr>
          <a:xfrm>
            <a:off x="8778240" y="2971800"/>
            <a:ext cx="2148840" cy="749808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界面耦合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压力→顶点力</a:t>
            </a:r>
          </a:p>
        </p:txBody>
      </p:sp>
      <p:sp>
        <p:nvSpPr>
          <p:cNvPr id="90" name="Shape 90"/>
          <p:cNvSpPr/>
          <p:nvPr/>
        </p:nvSpPr>
        <p:spPr>
          <a:xfrm>
            <a:off x="1005840" y="4983480"/>
            <a:ext cx="10149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1400">
                <a:solidFill>
                  <a:srgbClr val="475569"/>
                </a:solidFill>
                <a:latin typeface="Microsoft YaHei"/>
                <a:ea typeface="Microsoft YaHei"/>
              </a:rPr>
              <a:t>课程汇报 · 学术/科技风格方法说明</a:t>
            </a:r>
          </a:p>
        </p:txBody>
      </p:sp>
      <p:sp>
        <p:nvSpPr>
          <p:cNvPr id="900" name="Shape 900"/>
          <p:cNvSpPr/>
          <p:nvPr/>
        </p:nvSpPr>
        <p:spPr>
          <a:xfrm>
            <a:off x="502920" y="656539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Fish FSI Explicit Weak Coupling</a:t>
            </a:r>
          </a:p>
        </p:txBody>
      </p:sp>
      <p:sp>
        <p:nvSpPr>
          <p:cNvPr id="901" name="Shape 90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502920" y="256032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800" b="1">
                <a:solidFill>
                  <a:srgbClr val="0B172A"/>
                </a:solidFill>
                <a:latin typeface="Microsoft YaHei"/>
                <a:ea typeface="Microsoft YaHei"/>
              </a:rPr>
              <a:t>汇报结构</a:t>
            </a:r>
          </a:p>
        </p:txBody>
      </p:sp>
      <p:sp>
        <p:nvSpPr>
          <p:cNvPr id="11" name="Shape 1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</a:rPr>
              <a:t>从力学问题到数值方法，再到实验诊断</a:t>
            </a:r>
          </a:p>
        </p:txBody>
      </p:sp>
      <p:sp>
        <p:nvSpPr>
          <p:cNvPr id="12" name="Line 1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ln w="9000">
            <a:solidFill>
              <a:srgbClr val="E2E8F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685800" y="1417320"/>
            <a:ext cx="3383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1" name="Shape 31"/>
          <p:cNvSpPr/>
          <p:nvPr/>
        </p:nvSpPr>
        <p:spPr>
          <a:xfrm>
            <a:off x="685800" y="1417320"/>
            <a:ext cx="73152" cy="4206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2" name="Shape 32"/>
          <p:cNvSpPr/>
          <p:nvPr/>
        </p:nvSpPr>
        <p:spPr>
          <a:xfrm>
            <a:off x="886968" y="155448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问题与框架</a:t>
            </a:r>
          </a:p>
        </p:txBody>
      </p:sp>
      <p:sp>
        <p:nvSpPr>
          <p:cNvPr id="33" name="Shape 33"/>
          <p:cNvSpPr/>
          <p:nvPr/>
        </p:nvSpPr>
        <p:spPr>
          <a:xfrm>
            <a:off x="914400" y="1947672"/>
            <a:ext cx="2971800" cy="3566159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鱼体游动是典型移动边界 FSI</a:t>
            </a:r>
          </a:p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采用显式弱耦合而非强耦合迭代</a:t>
            </a:r>
          </a:p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每步交换边界速度与表面力</a:t>
            </a:r>
          </a:p>
        </p:txBody>
      </p:sp>
      <p:sp>
        <p:nvSpPr>
          <p:cNvPr id="50" name="Shape 50"/>
          <p:cNvSpPr/>
          <p:nvPr/>
        </p:nvSpPr>
        <p:spPr>
          <a:xfrm>
            <a:off x="4407408" y="1417320"/>
            <a:ext cx="3383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51" name="Shape 51"/>
          <p:cNvSpPr/>
          <p:nvPr/>
        </p:nvSpPr>
        <p:spPr>
          <a:xfrm>
            <a:off x="4407408" y="1417320"/>
            <a:ext cx="73152" cy="4206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52" name="Shape 52"/>
          <p:cNvSpPr/>
          <p:nvPr/>
        </p:nvSpPr>
        <p:spPr>
          <a:xfrm>
            <a:off x="4608576" y="155448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核心算法</a:t>
            </a:r>
          </a:p>
        </p:txBody>
      </p:sp>
      <p:sp>
        <p:nvSpPr>
          <p:cNvPr id="53" name="Shape 53"/>
          <p:cNvSpPr/>
          <p:nvPr/>
        </p:nvSpPr>
        <p:spPr>
          <a:xfrm>
            <a:off x="4636008" y="1947672"/>
            <a:ext cx="2971800" cy="3566159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固体侧：四面体 FEM + Projective Dynamics</a:t>
            </a:r>
          </a:p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驱动侧：肌肉主动收缩波</a:t>
            </a:r>
          </a:p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流体侧：WCSPH + VAP 近壁压力投影</a:t>
            </a:r>
          </a:p>
        </p:txBody>
      </p:sp>
      <p:sp>
        <p:nvSpPr>
          <p:cNvPr id="70" name="Shape 70"/>
          <p:cNvSpPr/>
          <p:nvPr/>
        </p:nvSpPr>
        <p:spPr>
          <a:xfrm>
            <a:off x="8119872" y="1417320"/>
            <a:ext cx="3383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71" name="Shape 71"/>
          <p:cNvSpPr/>
          <p:nvPr/>
        </p:nvSpPr>
        <p:spPr>
          <a:xfrm>
            <a:off x="8119872" y="1417320"/>
            <a:ext cx="73152" cy="4206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72" name="Shape 72"/>
          <p:cNvSpPr/>
          <p:nvPr/>
        </p:nvSpPr>
        <p:spPr>
          <a:xfrm>
            <a:off x="8321040" y="155448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实验诊断</a:t>
            </a:r>
          </a:p>
        </p:txBody>
      </p:sp>
      <p:sp>
        <p:nvSpPr>
          <p:cNvPr id="73" name="Shape 73"/>
          <p:cNvSpPr/>
          <p:nvPr/>
        </p:nvSpPr>
        <p:spPr>
          <a:xfrm>
            <a:off x="8348472" y="1947672"/>
            <a:ext cx="2971800" cy="3566159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体积保持与四面体翻转</a:t>
            </a:r>
          </a:p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表面压力覆盖与力矩</a:t>
            </a:r>
          </a:p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headless 快照与粒子追踪</a:t>
            </a:r>
          </a:p>
        </p:txBody>
      </p:sp>
      <p:sp>
        <p:nvSpPr>
          <p:cNvPr id="900" name="Shape 900"/>
          <p:cNvSpPr/>
          <p:nvPr/>
        </p:nvSpPr>
        <p:spPr>
          <a:xfrm>
            <a:off x="502920" y="656539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Fish FSI Explicit Weak Coupling</a:t>
            </a:r>
          </a:p>
        </p:txBody>
      </p:sp>
      <p:sp>
        <p:nvSpPr>
          <p:cNvPr id="901" name="Shape 90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502920" y="256032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800" b="1">
                <a:solidFill>
                  <a:srgbClr val="0B172A"/>
                </a:solidFill>
                <a:latin typeface="Microsoft YaHei"/>
                <a:ea typeface="Microsoft YaHei"/>
              </a:rPr>
              <a:t>研究问题：鱼体游动的 FSI</a:t>
            </a:r>
          </a:p>
        </p:txBody>
      </p:sp>
      <p:sp>
        <p:nvSpPr>
          <p:cNvPr id="11" name="Shape 1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</a:rPr>
              <a:t>内部肌肉驱动变形，外部流体反作用于鱼体</a:t>
            </a:r>
          </a:p>
        </p:txBody>
      </p:sp>
      <p:sp>
        <p:nvSpPr>
          <p:cNvPr id="12" name="Line 1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ln w="9000">
            <a:solidFill>
              <a:srgbClr val="E2E8F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731520" y="14173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1" name="Shape 31"/>
          <p:cNvSpPr/>
          <p:nvPr/>
        </p:nvSpPr>
        <p:spPr>
          <a:xfrm>
            <a:off x="960120" y="169164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700" b="1">
                <a:solidFill>
                  <a:srgbClr val="0B172A"/>
                </a:solidFill>
                <a:latin typeface="Microsoft YaHei"/>
                <a:ea typeface="Microsoft YaHei"/>
              </a:rPr>
              <a:t>连续力学视角</a:t>
            </a:r>
          </a:p>
        </p:txBody>
      </p:sp>
      <p:sp>
        <p:nvSpPr>
          <p:cNvPr id="32" name="Shape 32"/>
          <p:cNvSpPr/>
          <p:nvPr/>
        </p:nvSpPr>
        <p:spPr>
          <a:xfrm>
            <a:off x="1005840" y="2240280"/>
            <a:ext cx="4480560" cy="21031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350">
                <a:solidFill>
                  <a:srgbClr val="0B172A"/>
                </a:solidFill>
                <a:latin typeface="Microsoft YaHei"/>
                <a:ea typeface="Microsoft YaHei"/>
              </a:rPr>
              <a:t>固体区域 Ω_s(t):</a:t>
            </a:r>
          </a:p>
          <a:p>
            <a:pPr algn="l"/>
            <a:r>
              <a:rPr lang="zh-CN" sz="1350">
                <a:solidFill>
                  <a:srgbClr val="0B172A"/>
                </a:solidFill>
                <a:latin typeface="Microsoft YaHei"/>
                <a:ea typeface="Microsoft YaHei"/>
              </a:rPr>
              <a:t>ρ_s x¨ = div(P) + f_muscle + f_fluid</a:t>
            </a:r>
          </a:p>
          <a:p>
            <a:pPr algn="l"/>
            <a:r>
              <a:rPr lang="zh-CN" sz="135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lang="zh-CN" sz="1350">
                <a:solidFill>
                  <a:srgbClr val="0B172A"/>
                </a:solidFill>
                <a:latin typeface="Microsoft YaHei"/>
                <a:ea typeface="Microsoft YaHei"/>
              </a:rPr>
              <a:t>流体区域 Ω_f(t):</a:t>
            </a:r>
          </a:p>
          <a:p>
            <a:pPr algn="l"/>
            <a:r>
              <a:rPr lang="zh-CN" sz="1350">
                <a:solidFill>
                  <a:srgbClr val="0B172A"/>
                </a:solidFill>
                <a:latin typeface="Microsoft YaHei"/>
                <a:ea typeface="Microsoft YaHei"/>
              </a:rPr>
              <a:t>ρ_f Dv/Dt = -∇p + μ∇²v</a:t>
            </a:r>
          </a:p>
          <a:p>
            <a:pPr algn="l"/>
            <a:r>
              <a:rPr lang="zh-CN" sz="135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lang="zh-CN" sz="1350">
                <a:solidFill>
                  <a:srgbClr val="0B172A"/>
                </a:solidFill>
                <a:latin typeface="Microsoft YaHei"/>
                <a:ea typeface="Microsoft YaHei"/>
              </a:rPr>
              <a:t>界面 Γ(t):</a:t>
            </a:r>
          </a:p>
          <a:p>
            <a:pPr algn="l"/>
            <a:r>
              <a:rPr lang="zh-CN" sz="1350">
                <a:solidFill>
                  <a:srgbClr val="0B172A"/>
                </a:solidFill>
                <a:latin typeface="Microsoft YaHei"/>
                <a:ea typeface="Microsoft YaHei"/>
              </a:rPr>
              <a:t>v_fluid · n = v_solid · n</a:t>
            </a:r>
          </a:p>
        </p:txBody>
      </p:sp>
      <p:sp>
        <p:nvSpPr>
          <p:cNvPr id="40" name="Shape 40"/>
          <p:cNvSpPr/>
          <p:nvPr/>
        </p:nvSpPr>
        <p:spPr>
          <a:xfrm>
            <a:off x="6400800" y="1325880"/>
            <a:ext cx="50292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41" name="Shape 41"/>
          <p:cNvSpPr/>
          <p:nvPr/>
        </p:nvSpPr>
        <p:spPr>
          <a:xfrm>
            <a:off x="6629400" y="16916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700" b="1">
                <a:solidFill>
                  <a:srgbClr val="0B172A"/>
                </a:solidFill>
                <a:latin typeface="Microsoft YaHei"/>
                <a:ea typeface="Microsoft YaHei"/>
              </a:rPr>
              <a:t>本项目采用的离散思想</a:t>
            </a:r>
          </a:p>
        </p:txBody>
      </p:sp>
      <p:sp>
        <p:nvSpPr>
          <p:cNvPr id="80" name="Shape 80"/>
          <p:cNvSpPr/>
          <p:nvPr/>
        </p:nvSpPr>
        <p:spPr>
          <a:xfrm>
            <a:off x="6629400" y="2468880"/>
            <a:ext cx="987552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鱼体形状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x_s, v_s</a:t>
            </a:r>
          </a:p>
        </p:txBody>
      </p:sp>
      <p:sp>
        <p:nvSpPr>
          <p:cNvPr id="81" name="Shape 81"/>
          <p:cNvSpPr/>
          <p:nvPr/>
        </p:nvSpPr>
        <p:spPr>
          <a:xfrm>
            <a:off x="7662672" y="2733141"/>
            <a:ext cx="137160" cy="24871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83" name="Shape 83"/>
          <p:cNvSpPr/>
          <p:nvPr/>
        </p:nvSpPr>
        <p:spPr>
          <a:xfrm>
            <a:off x="7845552" y="2468880"/>
            <a:ext cx="987552" cy="7772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流体边界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Γ_s, u_Γ</a:t>
            </a:r>
          </a:p>
        </p:txBody>
      </p:sp>
      <p:sp>
        <p:nvSpPr>
          <p:cNvPr id="84" name="Shape 84"/>
          <p:cNvSpPr/>
          <p:nvPr/>
        </p:nvSpPr>
        <p:spPr>
          <a:xfrm>
            <a:off x="8878824" y="2733141"/>
            <a:ext cx="137160" cy="24871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86" name="Shape 86"/>
          <p:cNvSpPr/>
          <p:nvPr/>
        </p:nvSpPr>
        <p:spPr>
          <a:xfrm>
            <a:off x="9061704" y="2468880"/>
            <a:ext cx="987552" cy="7772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SPH/VAP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求近壁压力</a:t>
            </a:r>
          </a:p>
        </p:txBody>
      </p:sp>
      <p:sp>
        <p:nvSpPr>
          <p:cNvPr id="87" name="Shape 87"/>
          <p:cNvSpPr/>
          <p:nvPr/>
        </p:nvSpPr>
        <p:spPr>
          <a:xfrm>
            <a:off x="10094976" y="2733141"/>
            <a:ext cx="137160" cy="24871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89" name="Shape 89"/>
          <p:cNvSpPr/>
          <p:nvPr/>
        </p:nvSpPr>
        <p:spPr>
          <a:xfrm>
            <a:off x="10277856" y="2468880"/>
            <a:ext cx="987552" cy="7772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FEM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推进鱼体</a:t>
            </a:r>
          </a:p>
        </p:txBody>
      </p:sp>
      <p:sp>
        <p:nvSpPr>
          <p:cNvPr id="90" name="Shape 90"/>
          <p:cNvSpPr/>
          <p:nvPr/>
        </p:nvSpPr>
        <p:spPr>
          <a:xfrm>
            <a:off x="6720840" y="4160520"/>
            <a:ext cx="438912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400">
                <a:solidFill>
                  <a:srgbClr val="475569"/>
                </a:solidFill>
                <a:latin typeface="Microsoft YaHei"/>
                <a:ea typeface="Microsoft YaHei"/>
              </a:rPr>
              <a:t>关键：不在每个时间步内反复迭代流固平衡，而是使用显式弱耦合交换数据。</a:t>
            </a:r>
          </a:p>
        </p:txBody>
      </p:sp>
      <p:sp>
        <p:nvSpPr>
          <p:cNvPr id="900" name="Shape 900"/>
          <p:cNvSpPr/>
          <p:nvPr/>
        </p:nvSpPr>
        <p:spPr>
          <a:xfrm>
            <a:off x="502920" y="656539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Fish FSI Explicit Weak Coupling</a:t>
            </a:r>
          </a:p>
        </p:txBody>
      </p:sp>
      <p:sp>
        <p:nvSpPr>
          <p:cNvPr id="901" name="Shape 90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502920" y="256032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800" b="1">
                <a:solidFill>
                  <a:srgbClr val="0B172A"/>
                </a:solidFill>
                <a:latin typeface="Microsoft YaHei"/>
                <a:ea typeface="Microsoft YaHei"/>
              </a:rPr>
              <a:t>显式弱耦合主循环</a:t>
            </a:r>
          </a:p>
        </p:txBody>
      </p:sp>
      <p:sp>
        <p:nvSpPr>
          <p:cNvPr id="11" name="Shape 1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</a:rPr>
              <a:t>固体位置给流体，流体力再回传固体</a:t>
            </a:r>
          </a:p>
        </p:txBody>
      </p:sp>
      <p:sp>
        <p:nvSpPr>
          <p:cNvPr id="12" name="Line 1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ln w="9000">
            <a:solidFill>
              <a:srgbClr val="E2E8F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685800" y="1828800"/>
            <a:ext cx="1828800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1 固体状态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x_sⁿ, v_sⁿ</a:t>
            </a:r>
          </a:p>
        </p:txBody>
      </p:sp>
      <p:sp>
        <p:nvSpPr>
          <p:cNvPr id="31" name="Shape 31"/>
          <p:cNvSpPr/>
          <p:nvPr/>
        </p:nvSpPr>
        <p:spPr>
          <a:xfrm>
            <a:off x="2560320" y="2124151"/>
            <a:ext cx="256032" cy="277977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3" name="Shape 33"/>
          <p:cNvSpPr/>
          <p:nvPr/>
        </p:nvSpPr>
        <p:spPr>
          <a:xfrm>
            <a:off x="2862072" y="1828800"/>
            <a:ext cx="1828800" cy="8686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2 提取表面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Γ_sⁿ</a:t>
            </a:r>
          </a:p>
        </p:txBody>
      </p:sp>
      <p:sp>
        <p:nvSpPr>
          <p:cNvPr id="34" name="Shape 34"/>
          <p:cNvSpPr/>
          <p:nvPr/>
        </p:nvSpPr>
        <p:spPr>
          <a:xfrm>
            <a:off x="4736592" y="2124151"/>
            <a:ext cx="256032" cy="277977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6" name="Shape 36"/>
          <p:cNvSpPr/>
          <p:nvPr/>
        </p:nvSpPr>
        <p:spPr>
          <a:xfrm>
            <a:off x="5038344" y="1828800"/>
            <a:ext cx="1828800" cy="86868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3 流体子步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WCSPH/VAP</a:t>
            </a:r>
          </a:p>
        </p:txBody>
      </p:sp>
      <p:sp>
        <p:nvSpPr>
          <p:cNvPr id="37" name="Shape 37"/>
          <p:cNvSpPr/>
          <p:nvPr/>
        </p:nvSpPr>
        <p:spPr>
          <a:xfrm>
            <a:off x="6912864" y="2124151"/>
            <a:ext cx="256032" cy="277977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9" name="Shape 39"/>
          <p:cNvSpPr/>
          <p:nvPr/>
        </p:nvSpPr>
        <p:spPr>
          <a:xfrm>
            <a:off x="7214616" y="1828800"/>
            <a:ext cx="1828800" cy="86868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4 表面压力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F_fluidⁿ</a:t>
            </a:r>
          </a:p>
        </p:txBody>
      </p:sp>
      <p:sp>
        <p:nvSpPr>
          <p:cNvPr id="40" name="Shape 40"/>
          <p:cNvSpPr/>
          <p:nvPr/>
        </p:nvSpPr>
        <p:spPr>
          <a:xfrm>
            <a:off x="9089136" y="2124151"/>
            <a:ext cx="256032" cy="277977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42" name="Shape 42"/>
          <p:cNvSpPr/>
          <p:nvPr/>
        </p:nvSpPr>
        <p:spPr>
          <a:xfrm>
            <a:off x="9390888" y="1828800"/>
            <a:ext cx="1828800" cy="8686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5 固体更新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x_sⁿ⁺¹</a:t>
            </a:r>
          </a:p>
        </p:txBody>
      </p:sp>
      <p:sp>
        <p:nvSpPr>
          <p:cNvPr id="60" name="Shape 60"/>
          <p:cNvSpPr/>
          <p:nvPr/>
        </p:nvSpPr>
        <p:spPr>
          <a:xfrm>
            <a:off x="960120" y="3794760"/>
            <a:ext cx="1024128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600">
                <a:solidFill>
                  <a:srgbClr val="0B172A"/>
                </a:solidFill>
                <a:latin typeface="Microsoft YaHei"/>
                <a:ea typeface="Microsoft YaHei"/>
              </a:rPr>
              <a:t>Fluid solve:  F_Γⁿ = WCSPH/VAP(Γ_sⁿ, u_Γⁿ, Δt_s)</a:t>
            </a:r>
          </a:p>
          <a:p>
            <a:pPr algn="ctr"/>
            <a:r>
              <a:rPr lang="zh-CN" sz="1600">
                <a:solidFill>
                  <a:srgbClr val="0B172A"/>
                </a:solidFill>
                <a:latin typeface="Microsoft YaHei"/>
                <a:ea typeface="Microsoft YaHei"/>
              </a:rPr>
              <a:t>Solid solve:  M(x_sⁿ⁺¹ - x_sⁿ)/Δt_s² = internal_PD + muscle + F_Γⁿ</a:t>
            </a:r>
          </a:p>
        </p:txBody>
      </p:sp>
      <p:sp>
        <p:nvSpPr>
          <p:cNvPr id="80" name="Shape 80"/>
          <p:cNvSpPr/>
          <p:nvPr/>
        </p:nvSpPr>
        <p:spPr>
          <a:xfrm>
            <a:off x="1051560" y="539496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1400" b="1">
                <a:solidFill>
                  <a:srgbClr val="2563EB"/>
                </a:solidFill>
                <a:latin typeface="Microsoft YaHei"/>
                <a:ea typeface="Microsoft YaHei"/>
              </a:rPr>
              <a:t>稳定化：高频固体步 + 流体子步 + 力截断 + 压力缩放</a:t>
            </a:r>
          </a:p>
        </p:txBody>
      </p:sp>
      <p:sp>
        <p:nvSpPr>
          <p:cNvPr id="900" name="Shape 900"/>
          <p:cNvSpPr/>
          <p:nvPr/>
        </p:nvSpPr>
        <p:spPr>
          <a:xfrm>
            <a:off x="502920" y="656539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Fish FSI Explicit Weak Coupling</a:t>
            </a:r>
          </a:p>
        </p:txBody>
      </p:sp>
      <p:sp>
        <p:nvSpPr>
          <p:cNvPr id="901" name="Shape 90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502920" y="256032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800" b="1">
                <a:solidFill>
                  <a:srgbClr val="0B172A"/>
                </a:solidFill>
                <a:latin typeface="Microsoft YaHei"/>
                <a:ea typeface="Microsoft YaHei"/>
              </a:rPr>
              <a:t>总体系统架构</a:t>
            </a:r>
          </a:p>
        </p:txBody>
      </p:sp>
      <p:sp>
        <p:nvSpPr>
          <p:cNvPr id="11" name="Shape 1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</a:rPr>
              <a:t>模块分离：固体、流体、界面耦合与诊断</a:t>
            </a:r>
          </a:p>
        </p:txBody>
      </p:sp>
      <p:sp>
        <p:nvSpPr>
          <p:cNvPr id="12" name="Line 1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ln w="9000">
            <a:solidFill>
              <a:srgbClr val="E2E8F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777240" y="1417320"/>
            <a:ext cx="2971800" cy="4206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rtlCol="0"/>
          <a:lstStyle/>
          <a:p>
            <a:pPr algn="ctr"/>
            <a:r>
              <a:rPr lang="zh-CN" sz="1500" b="1">
                <a:solidFill>
                  <a:srgbClr val="0B172A"/>
                </a:solidFill>
                <a:latin typeface="Microsoft YaHei"/>
                <a:ea typeface="Microsoft YaHei"/>
              </a:rPr>
              <a:t>固体侧</a:t>
            </a:r>
          </a:p>
          <a:p>
            <a:pPr algn="ctr"/>
            <a:r>
              <a:rPr lang="zh-CN" sz="15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500" b="1">
                <a:solidFill>
                  <a:srgbClr val="0B172A"/>
                </a:solidFill>
                <a:latin typeface="Microsoft YaHei"/>
                <a:ea typeface="Microsoft YaHei"/>
              </a:rPr>
              <a:t>四面体 FEM</a:t>
            </a:r>
          </a:p>
          <a:p>
            <a:pPr algn="ctr"/>
            <a:r>
              <a:rPr lang="zh-CN" sz="1500" b="1">
                <a:solidFill>
                  <a:srgbClr val="0B172A"/>
                </a:solidFill>
                <a:latin typeface="Microsoft YaHei"/>
                <a:ea typeface="Microsoft YaHei"/>
              </a:rPr>
              <a:t>Corotated FEM</a:t>
            </a:r>
          </a:p>
          <a:p>
            <a:pPr algn="ctr"/>
            <a:r>
              <a:rPr lang="zh-CN" sz="1500" b="1">
                <a:solidFill>
                  <a:srgbClr val="0B172A"/>
                </a:solidFill>
                <a:latin typeface="Microsoft YaHei"/>
                <a:ea typeface="Microsoft YaHei"/>
              </a:rPr>
              <a:t>Projective Dynamics</a:t>
            </a:r>
          </a:p>
          <a:p>
            <a:pPr algn="ctr"/>
            <a:r>
              <a:rPr lang="zh-CN" sz="1500" b="1">
                <a:solidFill>
                  <a:srgbClr val="0B172A"/>
                </a:solidFill>
                <a:latin typeface="Microsoft YaHei"/>
                <a:ea typeface="Microsoft YaHei"/>
              </a:rPr>
              <a:t>肌肉主动约束</a:t>
            </a:r>
          </a:p>
        </p:txBody>
      </p:sp>
      <p:sp>
        <p:nvSpPr>
          <p:cNvPr id="40" name="Shape 40"/>
          <p:cNvSpPr/>
          <p:nvPr/>
        </p:nvSpPr>
        <p:spPr>
          <a:xfrm>
            <a:off x="4617720" y="1417320"/>
            <a:ext cx="2971800" cy="42062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5EEAD4"/>
            </a:solidFill>
          </a:ln>
        </p:spPr>
        <p:txBody>
          <a:bodyPr wrap="square" rtlCol="0"/>
          <a:lstStyle/>
          <a:p>
            <a:pPr algn="ctr"/>
            <a:r>
              <a:rPr lang="zh-CN" sz="1500" b="1">
                <a:solidFill>
                  <a:srgbClr val="0B172A"/>
                </a:solidFill>
                <a:latin typeface="Microsoft YaHei"/>
                <a:ea typeface="Microsoft YaHei"/>
              </a:rPr>
              <a:t>流体侧</a:t>
            </a:r>
          </a:p>
          <a:p>
            <a:pPr algn="ctr"/>
            <a:r>
              <a:rPr lang="zh-CN" sz="15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500" b="1">
                <a:solidFill>
                  <a:srgbClr val="0B172A"/>
                </a:solidFill>
                <a:latin typeface="Microsoft YaHei"/>
                <a:ea typeface="Microsoft YaHei"/>
              </a:rPr>
              <a:t>WCSPH 粒子流体</a:t>
            </a:r>
          </a:p>
          <a:p>
            <a:pPr algn="ctr"/>
            <a:r>
              <a:rPr lang="zh-CN" sz="1500" b="1">
                <a:solidFill>
                  <a:srgbClr val="0B172A"/>
                </a:solidFill>
                <a:latin typeface="Microsoft YaHei"/>
                <a:ea typeface="Microsoft YaHei"/>
              </a:rPr>
              <a:t>均匀网格邻域</a:t>
            </a:r>
          </a:p>
          <a:p>
            <a:pPr algn="ctr"/>
            <a:r>
              <a:rPr lang="zh-CN" sz="1500" b="1">
                <a:solidFill>
                  <a:srgbClr val="0B172A"/>
                </a:solidFill>
                <a:latin typeface="Microsoft YaHei"/>
                <a:ea typeface="Microsoft YaHei"/>
              </a:rPr>
              <a:t>VAP 近壁投影</a:t>
            </a:r>
          </a:p>
          <a:p>
            <a:pPr algn="ctr"/>
            <a:r>
              <a:rPr lang="zh-CN" sz="1500" b="1">
                <a:solidFill>
                  <a:srgbClr val="0B172A"/>
                </a:solidFill>
                <a:latin typeface="Microsoft YaHei"/>
                <a:ea typeface="Microsoft YaHei"/>
              </a:rPr>
              <a:t>GPU 并行</a:t>
            </a:r>
          </a:p>
        </p:txBody>
      </p:sp>
      <p:sp>
        <p:nvSpPr>
          <p:cNvPr id="50" name="Shape 50"/>
          <p:cNvSpPr/>
          <p:nvPr/>
        </p:nvSpPr>
        <p:spPr>
          <a:xfrm>
            <a:off x="8458200" y="1417320"/>
            <a:ext cx="2971800" cy="42062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DBA74"/>
            </a:solidFill>
          </a:ln>
        </p:spPr>
        <p:txBody>
          <a:bodyPr wrap="square" rtlCol="0"/>
          <a:lstStyle/>
          <a:p>
            <a:pPr algn="ctr"/>
            <a:r>
              <a:rPr lang="zh-CN" sz="1500" b="1">
                <a:solidFill>
                  <a:srgbClr val="0B172A"/>
                </a:solidFill>
                <a:latin typeface="Microsoft YaHei"/>
                <a:ea typeface="Microsoft YaHei"/>
              </a:rPr>
              <a:t>耦合与诊断</a:t>
            </a:r>
          </a:p>
          <a:p>
            <a:pPr algn="ctr"/>
            <a:r>
              <a:rPr lang="zh-CN" sz="15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500" b="1">
                <a:solidFill>
                  <a:srgbClr val="0B172A"/>
                </a:solidFill>
                <a:latin typeface="Microsoft YaHei"/>
                <a:ea typeface="Microsoft YaHei"/>
              </a:rPr>
              <a:t>表面压力积分</a:t>
            </a:r>
          </a:p>
          <a:p>
            <a:pPr algn="ctr"/>
            <a:r>
              <a:rPr lang="zh-CN" sz="1500" b="1">
                <a:solidFill>
                  <a:srgbClr val="0B172A"/>
                </a:solidFill>
                <a:latin typeface="Microsoft YaHei"/>
                <a:ea typeface="Microsoft YaHei"/>
              </a:rPr>
              <a:t>顶点力回传</a:t>
            </a:r>
          </a:p>
          <a:p>
            <a:pPr algn="ctr"/>
            <a:r>
              <a:rPr lang="zh-CN" sz="1500" b="1">
                <a:solidFill>
                  <a:srgbClr val="0B172A"/>
                </a:solidFill>
                <a:latin typeface="Microsoft YaHei"/>
                <a:ea typeface="Microsoft YaHei"/>
              </a:rPr>
              <a:t>体积/翻转监控</a:t>
            </a:r>
          </a:p>
          <a:p>
            <a:pPr algn="ctr"/>
            <a:r>
              <a:rPr lang="zh-CN" sz="1500" b="1">
                <a:solidFill>
                  <a:srgbClr val="0B172A"/>
                </a:solidFill>
                <a:latin typeface="Microsoft YaHei"/>
                <a:ea typeface="Microsoft YaHei"/>
              </a:rPr>
              <a:t>快照与粒子追踪</a:t>
            </a:r>
          </a:p>
        </p:txBody>
      </p:sp>
      <p:sp>
        <p:nvSpPr>
          <p:cNvPr id="60" name="Line 60"/>
          <p:cNvSpPr/>
          <p:nvPr/>
        </p:nvSpPr>
        <p:spPr>
          <a:xfrm>
            <a:off x="3794760" y="2880360"/>
            <a:ext cx="777240" cy="0"/>
          </a:xfrm>
          <a:prstGeom prst="line">
            <a:avLst/>
          </a:prstGeom>
          <a:ln w="20000">
            <a:solidFill>
              <a:srgbClr val="2563EB"/>
            </a:solidFill>
            <a:tailEnd type="triangle"/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7635240" y="2880360"/>
            <a:ext cx="777240" cy="0"/>
          </a:xfrm>
          <a:prstGeom prst="line">
            <a:avLst/>
          </a:prstGeom>
          <a:ln w="20000">
            <a:solidFill>
              <a:srgbClr val="2563EB"/>
            </a:solidFill>
            <a:tailEnd type="triangle"/>
          </a:ln>
        </p:spPr>
        <p:txBody>
          <a:bodyPr/>
          <a:lstStyle/>
          <a:p/>
        </p:txBody>
      </p:sp>
      <p:sp>
        <p:nvSpPr>
          <p:cNvPr id="900" name="Shape 900"/>
          <p:cNvSpPr/>
          <p:nvPr/>
        </p:nvSpPr>
        <p:spPr>
          <a:xfrm>
            <a:off x="502920" y="656539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Fish FSI Explicit Weak Coupling</a:t>
            </a:r>
          </a:p>
        </p:txBody>
      </p:sp>
      <p:sp>
        <p:nvSpPr>
          <p:cNvPr id="901" name="Shape 90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502920" y="256032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800" b="1">
                <a:solidFill>
                  <a:srgbClr val="0B172A"/>
                </a:solidFill>
                <a:latin typeface="Microsoft YaHei"/>
                <a:ea typeface="Microsoft YaHei"/>
              </a:rPr>
              <a:t>固体侧：鱼体离散模型</a:t>
            </a:r>
          </a:p>
        </p:txBody>
      </p:sp>
      <p:sp>
        <p:nvSpPr>
          <p:cNvPr id="11" name="Shape 1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</a:rPr>
              <a:t>被动四面体网格承载弹性变形</a:t>
            </a:r>
          </a:p>
        </p:txBody>
      </p:sp>
      <p:sp>
        <p:nvSpPr>
          <p:cNvPr id="12" name="Line 1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ln w="9000">
            <a:solidFill>
              <a:srgbClr val="E2E8F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731520" y="1508760"/>
            <a:ext cx="141732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200" b="1">
                <a:solidFill>
                  <a:srgbClr val="0B172A"/>
                </a:solidFill>
                <a:latin typeface="Microsoft YaHei"/>
                <a:ea typeface="Microsoft YaHei"/>
              </a:rPr>
              <a:t>项目</a:t>
            </a:r>
          </a:p>
        </p:txBody>
      </p:sp>
      <p:sp>
        <p:nvSpPr>
          <p:cNvPr id="31" name="Shape 31"/>
          <p:cNvSpPr/>
          <p:nvPr/>
        </p:nvSpPr>
        <p:spPr>
          <a:xfrm>
            <a:off x="2148840" y="1508760"/>
            <a:ext cx="297180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200" b="1">
                <a:solidFill>
                  <a:srgbClr val="0B172A"/>
                </a:solidFill>
                <a:latin typeface="Microsoft YaHei"/>
                <a:ea typeface="Microsoft YaHei"/>
              </a:rPr>
              <a:t>数量/说明</a:t>
            </a:r>
          </a:p>
        </p:txBody>
      </p:sp>
      <p:sp>
        <p:nvSpPr>
          <p:cNvPr id="32" name="Shape 32"/>
          <p:cNvSpPr/>
          <p:nvPr/>
        </p:nvSpPr>
        <p:spPr>
          <a:xfrm>
            <a:off x="731520" y="1892807"/>
            <a:ext cx="1417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顶点</a:t>
            </a:r>
          </a:p>
        </p:txBody>
      </p:sp>
      <p:sp>
        <p:nvSpPr>
          <p:cNvPr id="33" name="Shape 33"/>
          <p:cNvSpPr/>
          <p:nvPr/>
        </p:nvSpPr>
        <p:spPr>
          <a:xfrm>
            <a:off x="2148840" y="1892807"/>
            <a:ext cx="2971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7950</a:t>
            </a:r>
          </a:p>
        </p:txBody>
      </p:sp>
      <p:sp>
        <p:nvSpPr>
          <p:cNvPr id="34" name="Shape 34"/>
          <p:cNvSpPr/>
          <p:nvPr/>
        </p:nvSpPr>
        <p:spPr>
          <a:xfrm>
            <a:off x="731520" y="2276856"/>
            <a:ext cx="1417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四面体</a:t>
            </a:r>
          </a:p>
        </p:txBody>
      </p:sp>
      <p:sp>
        <p:nvSpPr>
          <p:cNvPr id="35" name="Shape 35"/>
          <p:cNvSpPr/>
          <p:nvPr/>
        </p:nvSpPr>
        <p:spPr>
          <a:xfrm>
            <a:off x="2148840" y="2276856"/>
            <a:ext cx="2971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24676</a:t>
            </a:r>
          </a:p>
        </p:txBody>
      </p:sp>
      <p:sp>
        <p:nvSpPr>
          <p:cNvPr id="36" name="Shape 36"/>
          <p:cNvSpPr/>
          <p:nvPr/>
        </p:nvSpPr>
        <p:spPr>
          <a:xfrm>
            <a:off x="731520" y="2660903"/>
            <a:ext cx="1417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表面三角形</a:t>
            </a:r>
          </a:p>
        </p:txBody>
      </p:sp>
      <p:sp>
        <p:nvSpPr>
          <p:cNvPr id="37" name="Shape 37"/>
          <p:cNvSpPr/>
          <p:nvPr/>
        </p:nvSpPr>
        <p:spPr>
          <a:xfrm>
            <a:off x="2148840" y="2660903"/>
            <a:ext cx="2971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由四面体外边界自动提取</a:t>
            </a:r>
          </a:p>
        </p:txBody>
      </p:sp>
      <p:sp>
        <p:nvSpPr>
          <p:cNvPr id="38" name="Shape 38"/>
          <p:cNvSpPr/>
          <p:nvPr/>
        </p:nvSpPr>
        <p:spPr>
          <a:xfrm>
            <a:off x="731520" y="3044951"/>
            <a:ext cx="1417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缩放</a:t>
            </a:r>
          </a:p>
        </p:txBody>
      </p:sp>
      <p:sp>
        <p:nvSpPr>
          <p:cNvPr id="39" name="Shape 39"/>
          <p:cNvSpPr/>
          <p:nvPr/>
        </p:nvSpPr>
        <p:spPr>
          <a:xfrm>
            <a:off x="2148840" y="3044951"/>
            <a:ext cx="2971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fish.meta: 0.004</a:t>
            </a:r>
          </a:p>
        </p:txBody>
      </p:sp>
      <p:sp>
        <p:nvSpPr>
          <p:cNvPr id="60" name="Shape 60"/>
          <p:cNvSpPr/>
          <p:nvPr/>
        </p:nvSpPr>
        <p:spPr>
          <a:xfrm>
            <a:off x="5669280" y="1417320"/>
            <a:ext cx="539496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500" b="1">
                <a:solidFill>
                  <a:srgbClr val="0B172A"/>
                </a:solidFill>
                <a:latin typeface="Microsoft YaHei"/>
                <a:ea typeface="Microsoft YaHei"/>
              </a:rPr>
              <a:t>fish.meta</a:t>
            </a:r>
          </a:p>
          <a:p>
            <a:pPr algn="ctr"/>
            <a:r>
              <a:rPr lang="zh-CN" sz="15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500" b="1">
                <a:solidFill>
                  <a:srgbClr val="0B172A"/>
                </a:solidFill>
                <a:latin typeface="Microsoft YaHei"/>
                <a:ea typeface="Microsoft YaHei"/>
              </a:rPr>
              <a:t>fish_body.mesh</a:t>
            </a:r>
          </a:p>
          <a:p>
            <a:pPr algn="ctr"/>
            <a:r>
              <a:rPr lang="zh-CN" sz="1500" b="1">
                <a:solidFill>
                  <a:srgbClr val="0B172A"/>
                </a:solidFill>
                <a:latin typeface="Microsoft YaHei"/>
                <a:ea typeface="Microsoft YaHei"/>
              </a:rPr>
              <a:t>zf_nerve_cord.obj</a:t>
            </a:r>
          </a:p>
          <a:p>
            <a:pPr algn="ctr"/>
            <a:r>
              <a:rPr lang="zh-CN" sz="1500" b="1">
                <a:solidFill>
                  <a:srgbClr val="0B172A"/>
                </a:solidFill>
                <a:latin typeface="Microsoft YaHei"/>
                <a:ea typeface="Microsoft YaHei"/>
              </a:rPr>
              <a:t>fish.sampling</a:t>
            </a:r>
          </a:p>
          <a:p>
            <a:pPr algn="ctr"/>
            <a:r>
              <a:rPr lang="zh-CN" sz="1500" b="1">
                <a:solidFill>
                  <a:srgbClr val="0B172A"/>
                </a:solidFill>
                <a:latin typeface="Microsoft YaHei"/>
                <a:ea typeface="Microsoft YaHei"/>
              </a:rPr>
              <a:t>头尾与局部坐标参考点</a:t>
            </a:r>
          </a:p>
        </p:txBody>
      </p:sp>
      <p:sp>
        <p:nvSpPr>
          <p:cNvPr id="90" name="Shape 90"/>
          <p:cNvSpPr/>
          <p:nvPr/>
        </p:nvSpPr>
        <p:spPr>
          <a:xfrm>
            <a:off x="1143000" y="4160520"/>
            <a:ext cx="274320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体网格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被动材料</a:t>
            </a:r>
          </a:p>
        </p:txBody>
      </p:sp>
      <p:sp>
        <p:nvSpPr>
          <p:cNvPr id="91" name="Shape 91"/>
          <p:cNvSpPr/>
          <p:nvPr/>
        </p:nvSpPr>
        <p:spPr>
          <a:xfrm>
            <a:off x="3931920" y="4424781"/>
            <a:ext cx="457200" cy="24871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3" name="Shape 93"/>
          <p:cNvSpPr/>
          <p:nvPr/>
        </p:nvSpPr>
        <p:spPr>
          <a:xfrm>
            <a:off x="4434840" y="4160520"/>
            <a:ext cx="2743200" cy="7772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外边界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流体界面</a:t>
            </a:r>
          </a:p>
        </p:txBody>
      </p:sp>
      <p:sp>
        <p:nvSpPr>
          <p:cNvPr id="94" name="Shape 94"/>
          <p:cNvSpPr/>
          <p:nvPr/>
        </p:nvSpPr>
        <p:spPr>
          <a:xfrm>
            <a:off x="7223759" y="4424781"/>
            <a:ext cx="457200" cy="24871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6" name="Shape 96"/>
          <p:cNvSpPr/>
          <p:nvPr/>
        </p:nvSpPr>
        <p:spPr>
          <a:xfrm>
            <a:off x="7726679" y="4160520"/>
            <a:ext cx="2743200" cy="77724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采样点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状态/诊断</a:t>
            </a:r>
          </a:p>
        </p:txBody>
      </p:sp>
      <p:sp>
        <p:nvSpPr>
          <p:cNvPr id="900" name="Shape 900"/>
          <p:cNvSpPr/>
          <p:nvPr/>
        </p:nvSpPr>
        <p:spPr>
          <a:xfrm>
            <a:off x="502920" y="656539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Fish FSI Explicit Weak Coupling</a:t>
            </a:r>
          </a:p>
        </p:txBody>
      </p:sp>
      <p:sp>
        <p:nvSpPr>
          <p:cNvPr id="901" name="Shape 90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502920" y="256032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800" b="1">
                <a:solidFill>
                  <a:srgbClr val="0B172A"/>
                </a:solidFill>
                <a:latin typeface="Microsoft YaHei"/>
                <a:ea typeface="Microsoft YaHei"/>
              </a:rPr>
              <a:t>被动单元与主动肌肉单元</a:t>
            </a:r>
          </a:p>
        </p:txBody>
      </p:sp>
      <p:sp>
        <p:nvSpPr>
          <p:cNvPr id="11" name="Shape 1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</a:rPr>
              <a:t>神经索/肌肉路径定义主动收缩的空间位置</a:t>
            </a:r>
          </a:p>
        </p:txBody>
      </p:sp>
      <p:sp>
        <p:nvSpPr>
          <p:cNvPr id="12" name="Line 1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ln w="9000">
            <a:solidFill>
              <a:srgbClr val="E2E8F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594360" y="1828800"/>
            <a:ext cx="1828800" cy="8686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神经索/肌肉折线</a:t>
            </a:r>
          </a:p>
        </p:txBody>
      </p:sp>
      <p:sp>
        <p:nvSpPr>
          <p:cNvPr id="31" name="Shape 31"/>
          <p:cNvSpPr/>
          <p:nvPr/>
        </p:nvSpPr>
        <p:spPr>
          <a:xfrm>
            <a:off x="2468879" y="2124151"/>
            <a:ext cx="155448" cy="277977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3" name="Shape 33"/>
          <p:cNvSpPr/>
          <p:nvPr/>
        </p:nvSpPr>
        <p:spPr>
          <a:xfrm>
            <a:off x="2670048" y="1828800"/>
            <a:ext cx="1828800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弧长采样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muscle segments</a:t>
            </a:r>
          </a:p>
        </p:txBody>
      </p:sp>
      <p:sp>
        <p:nvSpPr>
          <p:cNvPr id="34" name="Shape 34"/>
          <p:cNvSpPr/>
          <p:nvPr/>
        </p:nvSpPr>
        <p:spPr>
          <a:xfrm>
            <a:off x="4544568" y="2124151"/>
            <a:ext cx="155448" cy="277977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6" name="Shape 36"/>
          <p:cNvSpPr/>
          <p:nvPr/>
        </p:nvSpPr>
        <p:spPr>
          <a:xfrm>
            <a:off x="4745736" y="1828800"/>
            <a:ext cx="1828800" cy="8686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寻找穿过或靠近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的四面体</a:t>
            </a:r>
          </a:p>
        </p:txBody>
      </p:sp>
      <p:sp>
        <p:nvSpPr>
          <p:cNvPr id="37" name="Shape 37"/>
          <p:cNvSpPr/>
          <p:nvPr/>
        </p:nvSpPr>
        <p:spPr>
          <a:xfrm>
            <a:off x="6620256" y="2124151"/>
            <a:ext cx="155448" cy="277977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9" name="Shape 39"/>
          <p:cNvSpPr/>
          <p:nvPr/>
        </p:nvSpPr>
        <p:spPr>
          <a:xfrm>
            <a:off x="6821424" y="1828800"/>
            <a:ext cx="1828800" cy="86868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添加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LinearMuscleConstraint</a:t>
            </a:r>
          </a:p>
        </p:txBody>
      </p:sp>
      <p:sp>
        <p:nvSpPr>
          <p:cNvPr id="40" name="Shape 40"/>
          <p:cNvSpPr/>
          <p:nvPr/>
        </p:nvSpPr>
        <p:spPr>
          <a:xfrm>
            <a:off x="8695944" y="2124151"/>
            <a:ext cx="155448" cy="277977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42" name="Shape 42"/>
          <p:cNvSpPr/>
          <p:nvPr/>
        </p:nvSpPr>
        <p:spPr>
          <a:xfrm>
            <a:off x="8897112" y="1828800"/>
            <a:ext cx="1828800" cy="8686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激活 a(t,s)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改变主动收缩</a:t>
            </a:r>
          </a:p>
        </p:txBody>
      </p:sp>
      <p:sp>
        <p:nvSpPr>
          <p:cNvPr id="70" name="Shape 70"/>
          <p:cNvSpPr/>
          <p:nvPr/>
        </p:nvSpPr>
        <p:spPr>
          <a:xfrm>
            <a:off x="868680" y="3886200"/>
            <a:ext cx="49377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71" name="Shape 71"/>
          <p:cNvSpPr/>
          <p:nvPr/>
        </p:nvSpPr>
        <p:spPr>
          <a:xfrm>
            <a:off x="868680" y="3886200"/>
            <a:ext cx="73152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72" name="Shape 72"/>
          <p:cNvSpPr/>
          <p:nvPr/>
        </p:nvSpPr>
        <p:spPr>
          <a:xfrm>
            <a:off x="1069848" y="40233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被动单元</a:t>
            </a:r>
          </a:p>
        </p:txBody>
      </p:sp>
      <p:sp>
        <p:nvSpPr>
          <p:cNvPr id="73" name="Shape 73"/>
          <p:cNvSpPr/>
          <p:nvPr/>
        </p:nvSpPr>
        <p:spPr>
          <a:xfrm>
            <a:off x="1097280" y="4416552"/>
            <a:ext cx="4526280" cy="8686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来自 fish_body.mesh 的四面体 FEM</a:t>
            </a:r>
          </a:p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描述组织弹性、质量、阻尼与大变形响应</a:t>
            </a:r>
          </a:p>
        </p:txBody>
      </p:sp>
      <p:sp>
        <p:nvSpPr>
          <p:cNvPr id="90" name="Shape 90"/>
          <p:cNvSpPr/>
          <p:nvPr/>
        </p:nvSpPr>
        <p:spPr>
          <a:xfrm>
            <a:off x="6400800" y="3886200"/>
            <a:ext cx="49377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91" name="Shape 91"/>
          <p:cNvSpPr/>
          <p:nvPr/>
        </p:nvSpPr>
        <p:spPr>
          <a:xfrm>
            <a:off x="6400800" y="3886200"/>
            <a:ext cx="73152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92" name="Shape 92"/>
          <p:cNvSpPr/>
          <p:nvPr/>
        </p:nvSpPr>
        <p:spPr>
          <a:xfrm>
            <a:off x="6601968" y="40233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主动单元</a:t>
            </a:r>
          </a:p>
        </p:txBody>
      </p:sp>
      <p:sp>
        <p:nvSpPr>
          <p:cNvPr id="93" name="Shape 93"/>
          <p:cNvSpPr/>
          <p:nvPr/>
        </p:nvSpPr>
        <p:spPr>
          <a:xfrm>
            <a:off x="6629400" y="4416552"/>
            <a:ext cx="4526280" cy="8686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来自 zf_nerve_cord.obj 的折线路径</a:t>
            </a:r>
          </a:p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按距离权重 w = exp(-|d|/0.005) 映射到四面体</a:t>
            </a:r>
          </a:p>
        </p:txBody>
      </p:sp>
      <p:sp>
        <p:nvSpPr>
          <p:cNvPr id="900" name="Shape 900"/>
          <p:cNvSpPr/>
          <p:nvPr/>
        </p:nvSpPr>
        <p:spPr>
          <a:xfrm>
            <a:off x="502920" y="656539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Fish FSI Explicit Weak Coupling</a:t>
            </a:r>
          </a:p>
        </p:txBody>
      </p:sp>
      <p:sp>
        <p:nvSpPr>
          <p:cNvPr id="901" name="Shape 90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502920" y="256032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800" b="1">
                <a:solidFill>
                  <a:srgbClr val="0B172A"/>
                </a:solidFill>
                <a:latin typeface="Microsoft YaHei"/>
                <a:ea typeface="Microsoft YaHei"/>
              </a:rPr>
              <a:t>固体材料：Corotated FEM</a:t>
            </a:r>
          </a:p>
        </p:txBody>
      </p:sp>
      <p:sp>
        <p:nvSpPr>
          <p:cNvPr id="11" name="Shape 1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</a:rPr>
              <a:t>去除刚体旋转，只惩罚真实拉伸/剪切</a:t>
            </a:r>
          </a:p>
        </p:txBody>
      </p:sp>
      <p:sp>
        <p:nvSpPr>
          <p:cNvPr id="12" name="Line 1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ln w="9000">
            <a:solidFill>
              <a:srgbClr val="E2E8F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685800" y="137160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静止构型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Dm = [X1-X0, X2-X0, X3-X0]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变形构型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Ds = [x1-x0, x2-x0, x3-x0]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变形梯度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F = Ds Dm⁻¹</a:t>
            </a:r>
          </a:p>
        </p:txBody>
      </p:sp>
      <p:sp>
        <p:nvSpPr>
          <p:cNvPr id="50" name="Shape 50"/>
          <p:cNvSpPr/>
          <p:nvPr/>
        </p:nvSpPr>
        <p:spPr>
          <a:xfrm>
            <a:off x="6400800" y="1371600"/>
            <a:ext cx="50749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旋转分离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F ≈ R S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弹性能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E ≈ μ||F-R||² + λ tr(RᵀF-I)²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意义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整体转动不产生虚假应力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弯曲/压缩/拉伸产生恢复力</a:t>
            </a:r>
          </a:p>
        </p:txBody>
      </p:sp>
      <p:sp>
        <p:nvSpPr>
          <p:cNvPr id="80" name="Shape 80"/>
          <p:cNvSpPr/>
          <p:nvPr/>
        </p:nvSpPr>
        <p:spPr>
          <a:xfrm>
            <a:off x="914400" y="58064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材料参数：E=2E5，局部硬区 E=4E5，ν=0.4，质量=10</a:t>
            </a:r>
          </a:p>
        </p:txBody>
      </p:sp>
      <p:sp>
        <p:nvSpPr>
          <p:cNvPr id="900" name="Shape 900"/>
          <p:cNvSpPr/>
          <p:nvPr/>
        </p:nvSpPr>
        <p:spPr>
          <a:xfrm>
            <a:off x="502920" y="656539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Fish FSI Explicit Weak Coupling</a:t>
            </a:r>
          </a:p>
        </p:txBody>
      </p:sp>
      <p:sp>
        <p:nvSpPr>
          <p:cNvPr id="901" name="Shape 90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502920" y="256032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800" b="1">
                <a:solidFill>
                  <a:srgbClr val="0B172A"/>
                </a:solidFill>
                <a:latin typeface="Microsoft YaHei"/>
                <a:ea typeface="Microsoft YaHei"/>
              </a:rPr>
              <a:t>Projective Dynamics 求解</a:t>
            </a:r>
          </a:p>
        </p:txBody>
      </p:sp>
      <p:sp>
        <p:nvSpPr>
          <p:cNvPr id="11" name="Shape 1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</a:rPr>
              <a:t>局部投影 + 全局线性系统，稳定处理软体大变形</a:t>
            </a:r>
          </a:p>
        </p:txBody>
      </p:sp>
      <p:sp>
        <p:nvSpPr>
          <p:cNvPr id="12" name="Line 1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ln w="9000">
            <a:solidFill>
              <a:srgbClr val="E2E8F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914400" y="1691640"/>
            <a:ext cx="2331720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惯性预测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qₙ</a:t>
            </a:r>
          </a:p>
        </p:txBody>
      </p:sp>
      <p:sp>
        <p:nvSpPr>
          <p:cNvPr id="31" name="Shape 31"/>
          <p:cNvSpPr/>
          <p:nvPr/>
        </p:nvSpPr>
        <p:spPr>
          <a:xfrm>
            <a:off x="3291839" y="1986991"/>
            <a:ext cx="320040" cy="277977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3" name="Shape 33"/>
          <p:cNvSpPr/>
          <p:nvPr/>
        </p:nvSpPr>
        <p:spPr>
          <a:xfrm>
            <a:off x="3657600" y="1691640"/>
            <a:ext cx="2331720" cy="8686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局部投影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pᵢ</a:t>
            </a:r>
          </a:p>
        </p:txBody>
      </p:sp>
      <p:sp>
        <p:nvSpPr>
          <p:cNvPr id="34" name="Shape 34"/>
          <p:cNvSpPr/>
          <p:nvPr/>
        </p:nvSpPr>
        <p:spPr>
          <a:xfrm>
            <a:off x="6035040" y="1986991"/>
            <a:ext cx="320040" cy="277977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6" name="Shape 36"/>
          <p:cNvSpPr/>
          <p:nvPr/>
        </p:nvSpPr>
        <p:spPr>
          <a:xfrm>
            <a:off x="6400800" y="1691640"/>
            <a:ext cx="2331720" cy="86868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全局求解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A x=b</a:t>
            </a:r>
          </a:p>
        </p:txBody>
      </p:sp>
      <p:sp>
        <p:nvSpPr>
          <p:cNvPr id="37" name="Shape 37"/>
          <p:cNvSpPr/>
          <p:nvPr/>
        </p:nvSpPr>
        <p:spPr>
          <a:xfrm>
            <a:off x="8778240" y="1986991"/>
            <a:ext cx="320040" cy="277977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9" name="Shape 39"/>
          <p:cNvSpPr/>
          <p:nvPr/>
        </p:nvSpPr>
        <p:spPr>
          <a:xfrm>
            <a:off x="9144000" y="1691640"/>
            <a:ext cx="2331720" cy="8686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速度更新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vₙ₊₁</a:t>
            </a:r>
          </a:p>
        </p:txBody>
      </p:sp>
      <p:sp>
        <p:nvSpPr>
          <p:cNvPr id="60" name="Shape 60"/>
          <p:cNvSpPr/>
          <p:nvPr/>
        </p:nvSpPr>
        <p:spPr>
          <a:xfrm>
            <a:off x="914400" y="3429000"/>
            <a:ext cx="10424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0B172A"/>
                </a:solidFill>
                <a:latin typeface="Microsoft YaHei"/>
                <a:ea typeface="Microsoft YaHei"/>
              </a:rPr>
              <a:t>qₙ = xₙ + Δt vₙ + Δt² M⁻¹ f_ext</a:t>
            </a:r>
          </a:p>
          <a:p>
            <a:pPr algn="ctr"/>
            <a:r>
              <a:rPr lang="zh-CN" sz="20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2000" b="1">
                <a:solidFill>
                  <a:srgbClr val="0B172A"/>
                </a:solidFill>
                <a:latin typeface="Microsoft YaHei"/>
                <a:ea typeface="Microsoft YaHei"/>
              </a:rPr>
              <a:t>((1/Δt²)M + L)xₙ₊₁ = (1/Δt²)M qₙ + Jd</a:t>
            </a:r>
          </a:p>
        </p:txBody>
      </p:sp>
      <p:sp>
        <p:nvSpPr>
          <p:cNvPr id="90" name="Shape 90"/>
          <p:cNvSpPr/>
          <p:nvPr/>
        </p:nvSpPr>
        <p:spPr>
          <a:xfrm>
            <a:off x="1051560" y="5349240"/>
            <a:ext cx="1014984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当前设置：960 Hz，PD 最大迭代 50，速度阻尼 0.9999</a:t>
            </a:r>
          </a:p>
        </p:txBody>
      </p:sp>
      <p:sp>
        <p:nvSpPr>
          <p:cNvPr id="900" name="Shape 900"/>
          <p:cNvSpPr/>
          <p:nvPr/>
        </p:nvSpPr>
        <p:spPr>
          <a:xfrm>
            <a:off x="502920" y="656539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Fish FSI Explicit Weak Coupling</a:t>
            </a:r>
          </a:p>
        </p:txBody>
      </p:sp>
      <p:sp>
        <p:nvSpPr>
          <p:cNvPr id="901" name="Shape 90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502920" y="256032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800" b="1">
                <a:solidFill>
                  <a:srgbClr val="0B172A"/>
                </a:solidFill>
                <a:latin typeface="Microsoft YaHei"/>
                <a:ea typeface="Microsoft YaHei"/>
              </a:rPr>
              <a:t>肌肉驱动：沿身体传播的主动收缩波</a:t>
            </a:r>
          </a:p>
        </p:txBody>
      </p:sp>
      <p:sp>
        <p:nvSpPr>
          <p:cNvPr id="11" name="Shape 1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</a:rPr>
              <a:t>左右侧相位差产生鱼体弯曲波</a:t>
            </a:r>
          </a:p>
        </p:txBody>
      </p:sp>
      <p:sp>
        <p:nvSpPr>
          <p:cNvPr id="12" name="Line 1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ln w="9000">
            <a:solidFill>
              <a:srgbClr val="E2E8F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731520" y="1417320"/>
            <a:ext cx="53492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700" b="1">
                <a:solidFill>
                  <a:srgbClr val="0B172A"/>
                </a:solidFill>
                <a:latin typeface="Microsoft YaHei"/>
                <a:ea typeface="Microsoft YaHei"/>
              </a:rPr>
              <a:t>a(s,t) = offset + A sin(2πft + sign·2πks + φ_side)</a:t>
            </a:r>
          </a:p>
          <a:p>
            <a:pPr algn="ctr"/>
            <a:r>
              <a:rPr lang="zh-CN" sz="17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700" b="1">
                <a:solidFill>
                  <a:srgbClr val="0B172A"/>
                </a:solidFill>
                <a:latin typeface="Microsoft YaHei"/>
                <a:ea typeface="Microsoft YaHei"/>
              </a:rPr>
              <a:t>A = 0.25</a:t>
            </a:r>
          </a:p>
          <a:p>
            <a:pPr algn="ctr"/>
            <a:r>
              <a:rPr lang="zh-CN" sz="1700" b="1">
                <a:solidFill>
                  <a:srgbClr val="0B172A"/>
                </a:solidFill>
                <a:latin typeface="Microsoft YaHei"/>
                <a:ea typeface="Microsoft YaHei"/>
              </a:rPr>
              <a:t>frequency = 1.0 Hz</a:t>
            </a:r>
          </a:p>
          <a:p>
            <a:pPr algn="ctr"/>
            <a:r>
              <a:rPr lang="zh-CN" sz="1700" b="1">
                <a:solidFill>
                  <a:srgbClr val="0B172A"/>
                </a:solidFill>
                <a:latin typeface="Microsoft YaHei"/>
                <a:ea typeface="Microsoft YaHei"/>
              </a:rPr>
              <a:t>spatial cycles = 1.0</a:t>
            </a:r>
          </a:p>
          <a:p>
            <a:pPr algn="ctr"/>
            <a:r>
              <a:rPr lang="zh-CN" sz="1700" b="1">
                <a:solidFill>
                  <a:srgbClr val="0B172A"/>
                </a:solidFill>
                <a:latin typeface="Microsoft YaHei"/>
                <a:ea typeface="Microsoft YaHei"/>
              </a:rPr>
              <a:t>左右相位差 = π</a:t>
            </a:r>
          </a:p>
        </p:txBody>
      </p:sp>
      <p:sp>
        <p:nvSpPr>
          <p:cNvPr id="60" name="Shape 60"/>
          <p:cNvSpPr/>
          <p:nvPr/>
        </p:nvSpPr>
        <p:spPr>
          <a:xfrm>
            <a:off x="6446520" y="1417320"/>
            <a:ext cx="4983480" cy="22402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DBA74"/>
            </a:solidFill>
          </a:ln>
        </p:spPr>
        <p:txBody>
          <a:bodyPr wrap="square" rtlCol="0"/>
          <a:lstStyle/>
          <a:p>
            <a:pPr algn="ctr"/>
            <a:r>
              <a:rPr lang="zh-CN" sz="1700" b="1">
                <a:solidFill>
                  <a:srgbClr val="0B172A"/>
                </a:solidFill>
                <a:latin typeface="Microsoft YaHei"/>
                <a:ea typeface="Microsoft YaHei"/>
              </a:rPr>
              <a:t>力学作用</a:t>
            </a:r>
          </a:p>
          <a:p>
            <a:pPr algn="ctr"/>
            <a:r>
              <a:rPr lang="zh-CN" sz="17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700" b="1">
                <a:solidFill>
                  <a:srgbClr val="0B172A"/>
                </a:solidFill>
                <a:latin typeface="Microsoft YaHei"/>
                <a:ea typeface="Microsoft YaHei"/>
              </a:rPr>
              <a:t>肌肉激活不是表面外力</a:t>
            </a:r>
          </a:p>
          <a:p>
            <a:pPr algn="ctr"/>
            <a:r>
              <a:rPr lang="zh-CN" sz="1700" b="1">
                <a:solidFill>
                  <a:srgbClr val="0B172A"/>
                </a:solidFill>
                <a:latin typeface="Microsoft YaHei"/>
                <a:ea typeface="Microsoft YaHei"/>
              </a:rPr>
              <a:t>而是内部主动约束</a:t>
            </a:r>
          </a:p>
          <a:p>
            <a:pPr algn="ctr"/>
            <a:r>
              <a:rPr lang="zh-CN" sz="17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700" b="1">
                <a:solidFill>
                  <a:srgbClr val="0B172A"/>
                </a:solidFill>
                <a:latin typeface="Microsoft YaHei"/>
                <a:ea typeface="Microsoft YaHei"/>
              </a:rPr>
              <a:t>主动应变 → 身体弯曲 → 推动流体</a:t>
            </a:r>
          </a:p>
        </p:txBody>
      </p:sp>
      <p:sp>
        <p:nvSpPr>
          <p:cNvPr id="90" name="Shape 90"/>
          <p:cNvSpPr/>
          <p:nvPr/>
        </p:nvSpPr>
        <p:spPr>
          <a:xfrm>
            <a:off x="1554480" y="4434840"/>
            <a:ext cx="164592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头部</a:t>
            </a:r>
          </a:p>
        </p:txBody>
      </p:sp>
      <p:sp>
        <p:nvSpPr>
          <p:cNvPr id="91" name="Shape 91"/>
          <p:cNvSpPr/>
          <p:nvPr/>
        </p:nvSpPr>
        <p:spPr>
          <a:xfrm>
            <a:off x="3246120" y="46680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3" name="Shape 93"/>
          <p:cNvSpPr/>
          <p:nvPr/>
        </p:nvSpPr>
        <p:spPr>
          <a:xfrm>
            <a:off x="3703320" y="4434840"/>
            <a:ext cx="1645920" cy="6858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波峰</a:t>
            </a:r>
          </a:p>
        </p:txBody>
      </p:sp>
      <p:sp>
        <p:nvSpPr>
          <p:cNvPr id="94" name="Shape 94"/>
          <p:cNvSpPr/>
          <p:nvPr/>
        </p:nvSpPr>
        <p:spPr>
          <a:xfrm>
            <a:off x="5394959" y="46680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6" name="Shape 96"/>
          <p:cNvSpPr/>
          <p:nvPr/>
        </p:nvSpPr>
        <p:spPr>
          <a:xfrm>
            <a:off x="5852160" y="4434840"/>
            <a:ext cx="1645920" cy="6858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波谷</a:t>
            </a:r>
          </a:p>
        </p:txBody>
      </p:sp>
      <p:sp>
        <p:nvSpPr>
          <p:cNvPr id="97" name="Shape 97"/>
          <p:cNvSpPr/>
          <p:nvPr/>
        </p:nvSpPr>
        <p:spPr>
          <a:xfrm>
            <a:off x="7543800" y="46680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9" name="Shape 99"/>
          <p:cNvSpPr/>
          <p:nvPr/>
        </p:nvSpPr>
        <p:spPr>
          <a:xfrm>
            <a:off x="8001000" y="4434840"/>
            <a:ext cx="1645920" cy="68580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尾部</a:t>
            </a:r>
          </a:p>
        </p:txBody>
      </p:sp>
      <p:sp>
        <p:nvSpPr>
          <p:cNvPr id="120" name="Shape 120"/>
          <p:cNvSpPr/>
          <p:nvPr/>
        </p:nvSpPr>
        <p:spPr>
          <a:xfrm>
            <a:off x="1097280" y="557784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空间相位沿身体长度变化，时间相位随仿真推进。</a:t>
            </a:r>
          </a:p>
        </p:txBody>
      </p:sp>
      <p:sp>
        <p:nvSpPr>
          <p:cNvPr id="900" name="Shape 900"/>
          <p:cNvSpPr/>
          <p:nvPr/>
        </p:nvSpPr>
        <p:spPr>
          <a:xfrm>
            <a:off x="502920" y="656539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Fish FSI Explicit Weak Coupling</a:t>
            </a:r>
          </a:p>
        </p:txBody>
      </p:sp>
      <p:sp>
        <p:nvSpPr>
          <p:cNvPr id="901" name="Shape 90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502920" y="256032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800" b="1">
                <a:solidFill>
                  <a:srgbClr val="0B172A"/>
                </a:solidFill>
                <a:latin typeface="Microsoft YaHei"/>
                <a:ea typeface="Microsoft YaHei"/>
              </a:rPr>
              <a:t>为什么使用 SPH 粒子流体</a:t>
            </a:r>
          </a:p>
        </p:txBody>
      </p:sp>
      <p:sp>
        <p:nvSpPr>
          <p:cNvPr id="11" name="Shape 1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</a:rPr>
              <a:t>移动边界和大变形界面更容易处理</a:t>
            </a:r>
          </a:p>
        </p:txBody>
      </p:sp>
      <p:sp>
        <p:nvSpPr>
          <p:cNvPr id="12" name="Line 1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ln w="9000">
            <a:solidFill>
              <a:srgbClr val="E2E8F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594360" y="1325880"/>
            <a:ext cx="1645920" cy="70866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080" b="1">
                <a:solidFill>
                  <a:srgbClr val="0B172A"/>
                </a:solidFill>
                <a:latin typeface="Microsoft YaHei"/>
                <a:ea typeface="Microsoft YaHei"/>
              </a:rPr>
              <a:t>方面</a:t>
            </a:r>
          </a:p>
        </p:txBody>
      </p:sp>
      <p:sp>
        <p:nvSpPr>
          <p:cNvPr id="31" name="Shape 31"/>
          <p:cNvSpPr/>
          <p:nvPr/>
        </p:nvSpPr>
        <p:spPr>
          <a:xfrm>
            <a:off x="2240280" y="1325880"/>
            <a:ext cx="4572000" cy="70866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080" b="1">
                <a:solidFill>
                  <a:srgbClr val="0B172A"/>
                </a:solidFill>
                <a:latin typeface="Microsoft YaHei"/>
                <a:ea typeface="Microsoft YaHei"/>
              </a:rPr>
              <a:t>传统网格方法</a:t>
            </a:r>
          </a:p>
        </p:txBody>
      </p:sp>
      <p:sp>
        <p:nvSpPr>
          <p:cNvPr id="32" name="Shape 32"/>
          <p:cNvSpPr/>
          <p:nvPr/>
        </p:nvSpPr>
        <p:spPr>
          <a:xfrm>
            <a:off x="6812280" y="1325880"/>
            <a:ext cx="4846320" cy="70866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080" b="1">
                <a:solidFill>
                  <a:srgbClr val="0B172A"/>
                </a:solidFill>
                <a:latin typeface="Microsoft YaHei"/>
                <a:ea typeface="Microsoft YaHei"/>
              </a:rPr>
              <a:t>SPH 粒子方法</a:t>
            </a:r>
          </a:p>
        </p:txBody>
      </p:sp>
      <p:sp>
        <p:nvSpPr>
          <p:cNvPr id="33" name="Shape 33"/>
          <p:cNvSpPr/>
          <p:nvPr/>
        </p:nvSpPr>
        <p:spPr>
          <a:xfrm>
            <a:off x="594360" y="2034540"/>
            <a:ext cx="164592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移动边界</a:t>
            </a:r>
          </a:p>
        </p:txBody>
      </p:sp>
      <p:sp>
        <p:nvSpPr>
          <p:cNvPr id="34" name="Shape 34"/>
          <p:cNvSpPr/>
          <p:nvPr/>
        </p:nvSpPr>
        <p:spPr>
          <a:xfrm>
            <a:off x="2240280" y="2034540"/>
            <a:ext cx="457200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浸入边界/ALE/重剖分</a:t>
            </a:r>
          </a:p>
        </p:txBody>
      </p:sp>
      <p:sp>
        <p:nvSpPr>
          <p:cNvPr id="35" name="Shape 35"/>
          <p:cNvSpPr/>
          <p:nvPr/>
        </p:nvSpPr>
        <p:spPr>
          <a:xfrm>
            <a:off x="6812280" y="2034540"/>
            <a:ext cx="484632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鱼体表面直接影响附近粒子</a:t>
            </a:r>
          </a:p>
        </p:txBody>
      </p:sp>
      <p:sp>
        <p:nvSpPr>
          <p:cNvPr id="36" name="Shape 36"/>
          <p:cNvSpPr/>
          <p:nvPr/>
        </p:nvSpPr>
        <p:spPr>
          <a:xfrm>
            <a:off x="594360" y="2743200"/>
            <a:ext cx="164592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自由表面/拓扑</a:t>
            </a:r>
          </a:p>
        </p:txBody>
      </p:sp>
      <p:sp>
        <p:nvSpPr>
          <p:cNvPr id="37" name="Shape 37"/>
          <p:cNvSpPr/>
          <p:nvPr/>
        </p:nvSpPr>
        <p:spPr>
          <a:xfrm>
            <a:off x="2240280" y="2743200"/>
            <a:ext cx="457200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需界面追踪或重构</a:t>
            </a:r>
          </a:p>
        </p:txBody>
      </p:sp>
      <p:sp>
        <p:nvSpPr>
          <p:cNvPr id="38" name="Shape 38"/>
          <p:cNvSpPr/>
          <p:nvPr/>
        </p:nvSpPr>
        <p:spPr>
          <a:xfrm>
            <a:off x="6812280" y="2743200"/>
            <a:ext cx="484632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粒子天然跟随界面</a:t>
            </a:r>
          </a:p>
        </p:txBody>
      </p:sp>
      <p:sp>
        <p:nvSpPr>
          <p:cNvPr id="39" name="Shape 39"/>
          <p:cNvSpPr/>
          <p:nvPr/>
        </p:nvSpPr>
        <p:spPr>
          <a:xfrm>
            <a:off x="594360" y="3451860"/>
            <a:ext cx="164592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压力精度</a:t>
            </a:r>
          </a:p>
        </p:txBody>
      </p:sp>
      <p:sp>
        <p:nvSpPr>
          <p:cNvPr id="40" name="Shape 40"/>
          <p:cNvSpPr/>
          <p:nvPr/>
        </p:nvSpPr>
        <p:spPr>
          <a:xfrm>
            <a:off x="2240280" y="3451860"/>
            <a:ext cx="457200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压力场通常更平滑</a:t>
            </a:r>
          </a:p>
        </p:txBody>
      </p:sp>
      <p:sp>
        <p:nvSpPr>
          <p:cNvPr id="41" name="Shape 41"/>
          <p:cNvSpPr/>
          <p:nvPr/>
        </p:nvSpPr>
        <p:spPr>
          <a:xfrm>
            <a:off x="6812280" y="3451860"/>
            <a:ext cx="484632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近壁低分辨率时更噪声</a:t>
            </a:r>
          </a:p>
        </p:txBody>
      </p:sp>
      <p:sp>
        <p:nvSpPr>
          <p:cNvPr id="42" name="Shape 42"/>
          <p:cNvSpPr/>
          <p:nvPr/>
        </p:nvSpPr>
        <p:spPr>
          <a:xfrm>
            <a:off x="594360" y="4160520"/>
            <a:ext cx="164592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计算特点</a:t>
            </a:r>
          </a:p>
        </p:txBody>
      </p:sp>
      <p:sp>
        <p:nvSpPr>
          <p:cNvPr id="43" name="Shape 43"/>
          <p:cNvSpPr/>
          <p:nvPr/>
        </p:nvSpPr>
        <p:spPr>
          <a:xfrm>
            <a:off x="2240280" y="4160520"/>
            <a:ext cx="457200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网格/稀疏线性系统</a:t>
            </a:r>
          </a:p>
        </p:txBody>
      </p:sp>
      <p:sp>
        <p:nvSpPr>
          <p:cNvPr id="44" name="Shape 44"/>
          <p:cNvSpPr/>
          <p:nvPr/>
        </p:nvSpPr>
        <p:spPr>
          <a:xfrm>
            <a:off x="6812280" y="4160520"/>
            <a:ext cx="484632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邻域搜索高度并行，适合 GPU</a:t>
            </a:r>
          </a:p>
        </p:txBody>
      </p:sp>
      <p:sp>
        <p:nvSpPr>
          <p:cNvPr id="45" name="Shape 45"/>
          <p:cNvSpPr/>
          <p:nvPr/>
        </p:nvSpPr>
        <p:spPr>
          <a:xfrm>
            <a:off x="594360" y="4869180"/>
            <a:ext cx="164592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本项目取舍</a:t>
            </a:r>
          </a:p>
        </p:txBody>
      </p:sp>
      <p:sp>
        <p:nvSpPr>
          <p:cNvPr id="46" name="Shape 46"/>
          <p:cNvSpPr/>
          <p:nvPr/>
        </p:nvSpPr>
        <p:spPr>
          <a:xfrm>
            <a:off x="2240280" y="4869180"/>
            <a:ext cx="457200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边界精度强但复杂</a:t>
            </a:r>
          </a:p>
        </p:txBody>
      </p:sp>
      <p:sp>
        <p:nvSpPr>
          <p:cNvPr id="47" name="Shape 47"/>
          <p:cNvSpPr/>
          <p:nvPr/>
        </p:nvSpPr>
        <p:spPr>
          <a:xfrm>
            <a:off x="6812280" y="4869180"/>
            <a:ext cx="484632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更适合快速实现大变形 FSI</a:t>
            </a:r>
          </a:p>
        </p:txBody>
      </p:sp>
      <p:sp>
        <p:nvSpPr>
          <p:cNvPr id="80" name="Shape 80"/>
          <p:cNvSpPr/>
          <p:nvPr/>
        </p:nvSpPr>
        <p:spPr>
          <a:xfrm>
            <a:off x="914400" y="580644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1400" b="1">
                <a:solidFill>
                  <a:srgbClr val="2563EB"/>
                </a:solidFill>
                <a:latin typeface="Microsoft YaHei"/>
                <a:ea typeface="Microsoft YaHei"/>
              </a:rPr>
              <a:t>策略：用 WCSPH 处理主体流体，用 VAP 专门补强近壁压力。</a:t>
            </a:r>
          </a:p>
        </p:txBody>
      </p:sp>
      <p:sp>
        <p:nvSpPr>
          <p:cNvPr id="900" name="Shape 900"/>
          <p:cNvSpPr/>
          <p:nvPr/>
        </p:nvSpPr>
        <p:spPr>
          <a:xfrm>
            <a:off x="502920" y="656539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Fish FSI Explicit Weak Coupling</a:t>
            </a:r>
          </a:p>
        </p:txBody>
      </p:sp>
      <p:sp>
        <p:nvSpPr>
          <p:cNvPr id="901" name="Shape 90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502920" y="256032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800" b="1">
                <a:solidFill>
                  <a:srgbClr val="0B172A"/>
                </a:solidFill>
                <a:latin typeface="Microsoft YaHei"/>
                <a:ea typeface="Microsoft YaHei"/>
              </a:rPr>
              <a:t>WCSPH：弱可压缩 SPH</a:t>
            </a:r>
          </a:p>
        </p:txBody>
      </p:sp>
      <p:sp>
        <p:nvSpPr>
          <p:cNvPr id="11" name="Shape 1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</a:rPr>
              <a:t>密度波动通过 Tait 状态方程转成压力</a:t>
            </a:r>
          </a:p>
        </p:txBody>
      </p:sp>
      <p:sp>
        <p:nvSpPr>
          <p:cNvPr id="12" name="Line 1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ln w="9000">
            <a:solidFill>
              <a:srgbClr val="E2E8F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731520" y="1417320"/>
            <a:ext cx="52120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550" b="1">
                <a:solidFill>
                  <a:srgbClr val="0B172A"/>
                </a:solidFill>
                <a:latin typeface="Microsoft YaHei"/>
                <a:ea typeface="Microsoft YaHei"/>
              </a:rPr>
              <a:t>核插值</a:t>
            </a:r>
          </a:p>
          <a:p>
            <a:pPr algn="ctr"/>
            <a:r>
              <a:rPr lang="zh-CN" sz="1550" b="1">
                <a:solidFill>
                  <a:srgbClr val="0B172A"/>
                </a:solidFill>
                <a:latin typeface="Microsoft YaHei"/>
                <a:ea typeface="Microsoft YaHei"/>
              </a:rPr>
              <a:t>A(xᵢ) ≈ Σⱼ mⱼ Aⱼ/ρⱼ · W(|xᵢ-xⱼ|,h)</a:t>
            </a:r>
          </a:p>
          <a:p>
            <a:pPr algn="ctr"/>
            <a:r>
              <a:rPr lang="zh-CN" sz="155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550" b="1">
                <a:solidFill>
                  <a:srgbClr val="0B172A"/>
                </a:solidFill>
                <a:latin typeface="Microsoft YaHei"/>
                <a:ea typeface="Microsoft YaHei"/>
              </a:rPr>
              <a:t>密度</a:t>
            </a:r>
          </a:p>
          <a:p>
            <a:pPr algn="ctr"/>
            <a:r>
              <a:rPr lang="zh-CN" sz="1550" b="1">
                <a:solidFill>
                  <a:srgbClr val="0B172A"/>
                </a:solidFill>
                <a:latin typeface="Microsoft YaHei"/>
                <a:ea typeface="Microsoft YaHei"/>
              </a:rPr>
              <a:t>ρᵢ = Σⱼ mⱼ Wᵢⱼ</a:t>
            </a:r>
          </a:p>
          <a:p>
            <a:pPr algn="ctr"/>
            <a:r>
              <a:rPr lang="zh-CN" sz="1550" b="1">
                <a:solidFill>
                  <a:srgbClr val="0B172A"/>
                </a:solidFill>
                <a:latin typeface="Microsoft YaHei"/>
                <a:ea typeface="Microsoft YaHei"/>
              </a:rPr>
              <a:t>ρᵢ = max(ρᵢ,ρ₀)</a:t>
            </a:r>
          </a:p>
          <a:p>
            <a:pPr algn="ctr"/>
            <a:r>
              <a:rPr lang="zh-CN" sz="155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550" b="1">
                <a:solidFill>
                  <a:srgbClr val="0B172A"/>
                </a:solidFill>
                <a:latin typeface="Microsoft YaHei"/>
                <a:ea typeface="Microsoft YaHei"/>
              </a:rPr>
              <a:t>压力</a:t>
            </a:r>
          </a:p>
          <a:p>
            <a:pPr algn="ctr"/>
            <a:r>
              <a:rPr lang="zh-CN" sz="1550" b="1">
                <a:solidFill>
                  <a:srgbClr val="0B172A"/>
                </a:solidFill>
                <a:latin typeface="Microsoft YaHei"/>
                <a:ea typeface="Microsoft YaHei"/>
              </a:rPr>
              <a:t>pᵢ = ρ₀ c_s²/7 · ((ρᵢ/ρ₀)^7 - 1)</a:t>
            </a:r>
          </a:p>
        </p:txBody>
      </p:sp>
      <p:sp>
        <p:nvSpPr>
          <p:cNvPr id="70" name="Shape 70"/>
          <p:cNvSpPr/>
          <p:nvPr/>
        </p:nvSpPr>
        <p:spPr>
          <a:xfrm>
            <a:off x="6400800" y="1417320"/>
            <a:ext cx="507492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450" b="1">
                <a:solidFill>
                  <a:srgbClr val="0B172A"/>
                </a:solidFill>
                <a:latin typeface="Microsoft YaHei"/>
                <a:ea typeface="Microsoft YaHei"/>
              </a:rPr>
              <a:t>SPH 力</a:t>
            </a:r>
          </a:p>
          <a:p>
            <a:pPr algn="ctr"/>
            <a:r>
              <a:rPr lang="zh-CN" sz="145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450" b="1">
                <a:solidFill>
                  <a:srgbClr val="0B172A"/>
                </a:solidFill>
                <a:latin typeface="Microsoft YaHei"/>
                <a:ea typeface="Microsoft YaHei"/>
              </a:rPr>
              <a:t>压力力</a:t>
            </a:r>
          </a:p>
          <a:p>
            <a:pPr algn="ctr"/>
            <a:r>
              <a:rPr lang="zh-CN" sz="1450" b="1">
                <a:solidFill>
                  <a:srgbClr val="0B172A"/>
                </a:solidFill>
                <a:latin typeface="Microsoft YaHei"/>
                <a:ea typeface="Microsoft YaHei"/>
              </a:rPr>
              <a:t>fᵖᵢ = -Σⱼ mⱼ(pᵢ+pⱼ)/(2ρⱼ)∇Wᵢⱼ</a:t>
            </a:r>
          </a:p>
          <a:p>
            <a:pPr algn="ctr"/>
            <a:r>
              <a:rPr lang="zh-CN" sz="145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450" b="1">
                <a:solidFill>
                  <a:srgbClr val="0B172A"/>
                </a:solidFill>
                <a:latin typeface="Microsoft YaHei"/>
                <a:ea typeface="Microsoft YaHei"/>
              </a:rPr>
              <a:t>粘性力</a:t>
            </a:r>
          </a:p>
          <a:p>
            <a:pPr algn="ctr"/>
            <a:r>
              <a:rPr lang="zh-CN" sz="1450" b="1">
                <a:solidFill>
                  <a:srgbClr val="0B172A"/>
                </a:solidFill>
                <a:latin typeface="Microsoft YaHei"/>
                <a:ea typeface="Microsoft YaHei"/>
              </a:rPr>
              <a:t>fᵛᵢ = Σⱼ mⱼ μ(vⱼ-vᵢ)/ρⱼ ∇²Wᵢⱼ</a:t>
            </a:r>
          </a:p>
          <a:p>
            <a:pPr algn="ctr"/>
            <a:r>
              <a:rPr lang="zh-CN" sz="145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450" b="1">
                <a:solidFill>
                  <a:srgbClr val="0B172A"/>
                </a:solidFill>
                <a:latin typeface="Microsoft YaHei"/>
                <a:ea typeface="Microsoft YaHei"/>
              </a:rPr>
              <a:t>参数：dx=0.011, h=2dx, ρ₀=1000, c_s=20</a:t>
            </a:r>
          </a:p>
        </p:txBody>
      </p:sp>
      <p:sp>
        <p:nvSpPr>
          <p:cNvPr id="900" name="Shape 900"/>
          <p:cNvSpPr/>
          <p:nvPr/>
        </p:nvSpPr>
        <p:spPr>
          <a:xfrm>
            <a:off x="502920" y="656539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Fish FSI Explicit Weak Coupling</a:t>
            </a:r>
          </a:p>
        </p:txBody>
      </p:sp>
      <p:sp>
        <p:nvSpPr>
          <p:cNvPr id="901" name="Shape 90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502920" y="256032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800" b="1">
                <a:solidFill>
                  <a:srgbClr val="0B172A"/>
                </a:solidFill>
                <a:latin typeface="Microsoft YaHei"/>
                <a:ea typeface="Microsoft YaHei"/>
              </a:rPr>
              <a:t>VAP：近壁压力投影</a:t>
            </a:r>
          </a:p>
        </p:txBody>
      </p:sp>
      <p:sp>
        <p:nvSpPr>
          <p:cNvPr id="11" name="Shape 1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</a:rPr>
              <a:t>在鱼体表面附近构造局部投影系统 A p = b</a:t>
            </a:r>
          </a:p>
        </p:txBody>
      </p:sp>
      <p:sp>
        <p:nvSpPr>
          <p:cNvPr id="12" name="Line 1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ln w="9000">
            <a:solidFill>
              <a:srgbClr val="E2E8F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685800" y="1280160"/>
            <a:ext cx="32918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1" name="Shape 31"/>
          <p:cNvSpPr/>
          <p:nvPr/>
        </p:nvSpPr>
        <p:spPr>
          <a:xfrm>
            <a:off x="685800" y="1280160"/>
            <a:ext cx="73152" cy="4480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2" name="Shape 32"/>
          <p:cNvSpPr/>
          <p:nvPr/>
        </p:nvSpPr>
        <p:spPr>
          <a:xfrm>
            <a:off x="886968" y="1417319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为什么需要 VAP</a:t>
            </a:r>
          </a:p>
        </p:txBody>
      </p:sp>
      <p:sp>
        <p:nvSpPr>
          <p:cNvPr id="33" name="Shape 33"/>
          <p:cNvSpPr/>
          <p:nvPr/>
        </p:nvSpPr>
        <p:spPr>
          <a:xfrm>
            <a:off x="914400" y="1810512"/>
            <a:ext cx="2880360" cy="3840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WCSPH 近壁邻域不完整</a:t>
            </a:r>
          </a:p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表面压力覆盖可能稀疏</a:t>
            </a:r>
          </a:p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ghost 过强或过弱都会影响稳定</a:t>
            </a:r>
          </a:p>
        </p:txBody>
      </p:sp>
      <p:sp>
        <p:nvSpPr>
          <p:cNvPr id="55" name="Shape 55"/>
          <p:cNvSpPr/>
          <p:nvPr/>
        </p:nvSpPr>
        <p:spPr>
          <a:xfrm>
            <a:off x="4434840" y="1280160"/>
            <a:ext cx="3337560" cy="44805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4B5FD"/>
            </a:solidFill>
          </a:ln>
        </p:spPr>
        <p:txBody>
          <a:bodyPr wrap="square" rtlCol="0"/>
          <a:lstStyle/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核心系统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∇²p = ρ/Δt · ∇·u*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离散为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A p = b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p: 投影压力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b: 散度/边界/密度源项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A: 邻域权重算子</a:t>
            </a:r>
          </a:p>
        </p:txBody>
      </p:sp>
      <p:sp>
        <p:nvSpPr>
          <p:cNvPr id="80" name="Shape 80"/>
          <p:cNvSpPr/>
          <p:nvPr/>
        </p:nvSpPr>
        <p:spPr>
          <a:xfrm>
            <a:off x="8183879" y="1280160"/>
            <a:ext cx="32918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81" name="Shape 81"/>
          <p:cNvSpPr/>
          <p:nvPr/>
        </p:nvSpPr>
        <p:spPr>
          <a:xfrm>
            <a:off x="8183879" y="1280160"/>
            <a:ext cx="73152" cy="4480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82" name="Shape 82"/>
          <p:cNvSpPr/>
          <p:nvPr/>
        </p:nvSpPr>
        <p:spPr>
          <a:xfrm>
            <a:off x="8385048" y="1417319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压力用途</a:t>
            </a:r>
          </a:p>
        </p:txBody>
      </p:sp>
      <p:sp>
        <p:nvSpPr>
          <p:cNvPr id="83" name="Shape 83"/>
          <p:cNvSpPr/>
          <p:nvPr/>
        </p:nvSpPr>
        <p:spPr>
          <a:xfrm>
            <a:off x="8412480" y="1810512"/>
            <a:ext cx="2880360" cy="3840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修正 band 粒子速度</a:t>
            </a:r>
          </a:p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补偿近壁不可压条件</a:t>
            </a:r>
          </a:p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积分得到鱼体表面水动力</a:t>
            </a:r>
          </a:p>
        </p:txBody>
      </p:sp>
      <p:sp>
        <p:nvSpPr>
          <p:cNvPr id="900" name="Shape 900"/>
          <p:cNvSpPr/>
          <p:nvPr/>
        </p:nvSpPr>
        <p:spPr>
          <a:xfrm>
            <a:off x="502920" y="656539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Fish FSI Explicit Weak Coupling</a:t>
            </a:r>
          </a:p>
        </p:txBody>
      </p:sp>
      <p:sp>
        <p:nvSpPr>
          <p:cNvPr id="901" name="Shape 90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502920" y="256032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800" b="1">
                <a:solidFill>
                  <a:srgbClr val="0B172A"/>
                </a:solidFill>
                <a:latin typeface="Microsoft YaHei"/>
                <a:ea typeface="Microsoft YaHei"/>
              </a:rPr>
              <a:t>VAP 的两个特别设计</a:t>
            </a:r>
          </a:p>
        </p:txBody>
      </p:sp>
      <p:sp>
        <p:nvSpPr>
          <p:cNvPr id="11" name="Shape 1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</a:rPr>
              <a:t>只在关键区域投影，并用 ghost 表达运动边界</a:t>
            </a:r>
          </a:p>
        </p:txBody>
      </p:sp>
      <p:sp>
        <p:nvSpPr>
          <p:cNvPr id="12" name="Line 1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ln w="9000">
            <a:solidFill>
              <a:srgbClr val="E2E8F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731520" y="1325880"/>
            <a:ext cx="5212080" cy="45262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rtlCol="0"/>
          <a:lstStyle/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设计一：band 内外混合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band 内：VAP 压力投影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band 外：WCSPH 压力 + 粘性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动机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近壁压力最影响 FSI，不必全域投影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计算集中在鱼体附近</a:t>
            </a:r>
          </a:p>
        </p:txBody>
      </p:sp>
      <p:sp>
        <p:nvSpPr>
          <p:cNvPr id="60" name="Shape 60"/>
          <p:cNvSpPr/>
          <p:nvPr/>
        </p:nvSpPr>
        <p:spPr>
          <a:xfrm>
            <a:off x="6263640" y="1325880"/>
            <a:ext cx="5212080" cy="452628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5EEAD4"/>
            </a:solidFill>
          </a:ln>
        </p:spPr>
        <p:txBody>
          <a:bodyPr wrap="square" rtlCol="0"/>
          <a:lstStyle/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设计二：ghost 边界粒子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x_ghost = x_surface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v_ghost = v_surface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作用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表达 u_fluid·n ≈ u_solid·n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不作为压力自由度，只提供边界约束</a:t>
            </a:r>
          </a:p>
        </p:txBody>
      </p:sp>
      <p:sp>
        <p:nvSpPr>
          <p:cNvPr id="900" name="Shape 900"/>
          <p:cNvSpPr/>
          <p:nvPr/>
        </p:nvSpPr>
        <p:spPr>
          <a:xfrm>
            <a:off x="502920" y="656539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Fish FSI Explicit Weak Coupling</a:t>
            </a:r>
          </a:p>
        </p:txBody>
      </p:sp>
      <p:sp>
        <p:nvSpPr>
          <p:cNvPr id="901" name="Shape 90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502920" y="256032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800" b="1">
                <a:solidFill>
                  <a:srgbClr val="0B172A"/>
                </a:solidFill>
                <a:latin typeface="Microsoft YaHei"/>
                <a:ea typeface="Microsoft YaHei"/>
              </a:rPr>
              <a:t>VAP 子步完整流程</a:t>
            </a:r>
          </a:p>
        </p:txBody>
      </p:sp>
      <p:sp>
        <p:nvSpPr>
          <p:cNvPr id="11" name="Shape 1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</a:rPr>
              <a:t>从 band 标记到表面水压力积分</a:t>
            </a:r>
          </a:p>
        </p:txBody>
      </p:sp>
      <p:sp>
        <p:nvSpPr>
          <p:cNvPr id="12" name="Line 1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ln w="9000">
            <a:solidFill>
              <a:srgbClr val="E2E8F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502920" y="1417320"/>
            <a:ext cx="1828800" cy="71323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1 band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标记</a:t>
            </a:r>
          </a:p>
        </p:txBody>
      </p:sp>
      <p:sp>
        <p:nvSpPr>
          <p:cNvPr id="31" name="Shape 31"/>
          <p:cNvSpPr/>
          <p:nvPr/>
        </p:nvSpPr>
        <p:spPr>
          <a:xfrm>
            <a:off x="2377439" y="1659818"/>
            <a:ext cx="210312" cy="22823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3" name="Shape 33"/>
          <p:cNvSpPr/>
          <p:nvPr/>
        </p:nvSpPr>
        <p:spPr>
          <a:xfrm>
            <a:off x="2633472" y="1417320"/>
            <a:ext cx="1828800" cy="71323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2 merged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集合</a:t>
            </a:r>
          </a:p>
        </p:txBody>
      </p:sp>
      <p:sp>
        <p:nvSpPr>
          <p:cNvPr id="34" name="Shape 34"/>
          <p:cNvSpPr/>
          <p:nvPr/>
        </p:nvSpPr>
        <p:spPr>
          <a:xfrm>
            <a:off x="4507992" y="1659818"/>
            <a:ext cx="210312" cy="22823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6" name="Shape 36"/>
          <p:cNvSpPr/>
          <p:nvPr/>
        </p:nvSpPr>
        <p:spPr>
          <a:xfrm>
            <a:off x="4764024" y="1417320"/>
            <a:ext cx="1828800" cy="71323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3 邻居表</a:t>
            </a:r>
          </a:p>
        </p:txBody>
      </p:sp>
      <p:sp>
        <p:nvSpPr>
          <p:cNvPr id="37" name="Shape 37"/>
          <p:cNvSpPr/>
          <p:nvPr/>
        </p:nvSpPr>
        <p:spPr>
          <a:xfrm>
            <a:off x="6638544" y="1659818"/>
            <a:ext cx="210312" cy="22823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9" name="Shape 39"/>
          <p:cNvSpPr/>
          <p:nvPr/>
        </p:nvSpPr>
        <p:spPr>
          <a:xfrm>
            <a:off x="6894576" y="1417320"/>
            <a:ext cx="1828800" cy="713232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4 alpha</a:t>
            </a:r>
          </a:p>
        </p:txBody>
      </p:sp>
      <p:sp>
        <p:nvSpPr>
          <p:cNvPr id="40" name="Shape 40"/>
          <p:cNvSpPr/>
          <p:nvPr/>
        </p:nvSpPr>
        <p:spPr>
          <a:xfrm>
            <a:off x="8769096" y="1659818"/>
            <a:ext cx="210312" cy="22823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42" name="Shape 42"/>
          <p:cNvSpPr/>
          <p:nvPr/>
        </p:nvSpPr>
        <p:spPr>
          <a:xfrm>
            <a:off x="9025128" y="1417320"/>
            <a:ext cx="1828800" cy="713232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5 aii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surface</a:t>
            </a:r>
          </a:p>
        </p:txBody>
      </p:sp>
      <p:sp>
        <p:nvSpPr>
          <p:cNvPr id="80" name="Shape 80"/>
          <p:cNvSpPr/>
          <p:nvPr/>
        </p:nvSpPr>
        <p:spPr>
          <a:xfrm>
            <a:off x="502920" y="2743200"/>
            <a:ext cx="1828800" cy="71323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6 b 源项</a:t>
            </a:r>
          </a:p>
        </p:txBody>
      </p:sp>
      <p:sp>
        <p:nvSpPr>
          <p:cNvPr id="81" name="Shape 81"/>
          <p:cNvSpPr/>
          <p:nvPr/>
        </p:nvSpPr>
        <p:spPr>
          <a:xfrm>
            <a:off x="2377439" y="2985698"/>
            <a:ext cx="210312" cy="22823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83" name="Shape 83"/>
          <p:cNvSpPr/>
          <p:nvPr/>
        </p:nvSpPr>
        <p:spPr>
          <a:xfrm>
            <a:off x="2633472" y="2743200"/>
            <a:ext cx="1828800" cy="71323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7 CG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求 p</a:t>
            </a:r>
          </a:p>
        </p:txBody>
      </p:sp>
      <p:sp>
        <p:nvSpPr>
          <p:cNvPr id="84" name="Shape 84"/>
          <p:cNvSpPr/>
          <p:nvPr/>
        </p:nvSpPr>
        <p:spPr>
          <a:xfrm>
            <a:off x="4507992" y="2985698"/>
            <a:ext cx="210312" cy="22823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86" name="Shape 86"/>
          <p:cNvSpPr/>
          <p:nvPr/>
        </p:nvSpPr>
        <p:spPr>
          <a:xfrm>
            <a:off x="4764024" y="2743200"/>
            <a:ext cx="1828800" cy="71323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8 速度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修正</a:t>
            </a:r>
          </a:p>
        </p:txBody>
      </p:sp>
      <p:sp>
        <p:nvSpPr>
          <p:cNvPr id="87" name="Shape 87"/>
          <p:cNvSpPr/>
          <p:nvPr/>
        </p:nvSpPr>
        <p:spPr>
          <a:xfrm>
            <a:off x="6638544" y="2985698"/>
            <a:ext cx="210312" cy="22823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89" name="Shape 89"/>
          <p:cNvSpPr/>
          <p:nvPr/>
        </p:nvSpPr>
        <p:spPr>
          <a:xfrm>
            <a:off x="6894576" y="2743200"/>
            <a:ext cx="1828800" cy="713232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9 压力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缩放</a:t>
            </a:r>
          </a:p>
        </p:txBody>
      </p:sp>
      <p:sp>
        <p:nvSpPr>
          <p:cNvPr id="90" name="Shape 90"/>
          <p:cNvSpPr/>
          <p:nvPr/>
        </p:nvSpPr>
        <p:spPr>
          <a:xfrm>
            <a:off x="8769096" y="2985698"/>
            <a:ext cx="210312" cy="22823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2" name="Shape 92"/>
          <p:cNvSpPr/>
          <p:nvPr/>
        </p:nvSpPr>
        <p:spPr>
          <a:xfrm>
            <a:off x="9025128" y="2743200"/>
            <a:ext cx="1828800" cy="713232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10 表面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水压力</a:t>
            </a:r>
          </a:p>
        </p:txBody>
      </p:sp>
      <p:sp>
        <p:nvSpPr>
          <p:cNvPr id="130" name="Shape 130"/>
          <p:cNvSpPr/>
          <p:nvPr/>
        </p:nvSpPr>
        <p:spPr>
          <a:xfrm>
            <a:off x="960120" y="4251960"/>
            <a:ext cx="10241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450" b="1">
                <a:solidFill>
                  <a:srgbClr val="0B172A"/>
                </a:solidFill>
                <a:latin typeface="Microsoft YaHei"/>
                <a:ea typeface="Microsoft YaHei"/>
              </a:rPr>
              <a:t>关键公式</a:t>
            </a:r>
          </a:p>
          <a:p>
            <a:pPr algn="ctr"/>
            <a:r>
              <a:rPr lang="zh-CN" sz="1450" b="1">
                <a:solidFill>
                  <a:srgbClr val="0B172A"/>
                </a:solidFill>
                <a:latin typeface="Microsoft YaHei"/>
                <a:ea typeface="Microsoft YaHei"/>
              </a:rPr>
              <a:t>αᵢ = Σⱼ W(||xᵢ-xⱼ||,h)       (Ap)ᵢ = aiiᵢpᵢ + Σⱼaᵢⱼpⱼ       F_face ≈ -p_face n_face A_face</a:t>
            </a:r>
          </a:p>
        </p:txBody>
      </p:sp>
      <p:sp>
        <p:nvSpPr>
          <p:cNvPr id="150" name="Shape 150"/>
          <p:cNvSpPr/>
          <p:nvPr/>
        </p:nvSpPr>
        <p:spPr>
          <a:xfrm>
            <a:off x="1005840" y="56692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VAP_PRESSURE_TO_HYDRO=0.75, VAP_CG_MAX_ITER=50, VAP_CG_TOL=0.1</a:t>
            </a:r>
          </a:p>
        </p:txBody>
      </p:sp>
      <p:sp>
        <p:nvSpPr>
          <p:cNvPr id="900" name="Shape 900"/>
          <p:cNvSpPr/>
          <p:nvPr/>
        </p:nvSpPr>
        <p:spPr>
          <a:xfrm>
            <a:off x="502920" y="656539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Fish FSI Explicit Weak Coupling</a:t>
            </a:r>
          </a:p>
        </p:txBody>
      </p:sp>
      <p:sp>
        <p:nvSpPr>
          <p:cNvPr id="901" name="Shape 90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502920" y="256032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800" b="1">
                <a:solidFill>
                  <a:srgbClr val="0B172A"/>
                </a:solidFill>
                <a:latin typeface="Microsoft YaHei"/>
                <a:ea typeface="Microsoft YaHei"/>
              </a:rPr>
              <a:t>FSI 界面力传递</a:t>
            </a:r>
          </a:p>
        </p:txBody>
      </p:sp>
      <p:sp>
        <p:nvSpPr>
          <p:cNvPr id="11" name="Shape 1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</a:rPr>
              <a:t>压力积分到三角面，再分配到 FEM 顶点</a:t>
            </a:r>
          </a:p>
        </p:txBody>
      </p:sp>
      <p:sp>
        <p:nvSpPr>
          <p:cNvPr id="12" name="Line 1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ln w="9000">
            <a:solidFill>
              <a:srgbClr val="E2E8F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731520" y="1600200"/>
            <a:ext cx="1828800" cy="82296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VAP/WCSPH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近壁压力</a:t>
            </a:r>
          </a:p>
        </p:txBody>
      </p:sp>
      <p:sp>
        <p:nvSpPr>
          <p:cNvPr id="31" name="Shape 31"/>
          <p:cNvSpPr/>
          <p:nvPr/>
        </p:nvSpPr>
        <p:spPr>
          <a:xfrm>
            <a:off x="2606039" y="1880006"/>
            <a:ext cx="201168" cy="263347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3" name="Shape 33"/>
          <p:cNvSpPr/>
          <p:nvPr/>
        </p:nvSpPr>
        <p:spPr>
          <a:xfrm>
            <a:off x="2852928" y="1600200"/>
            <a:ext cx="1828800" cy="8229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三角面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p,n,A</a:t>
            </a:r>
          </a:p>
        </p:txBody>
      </p:sp>
      <p:sp>
        <p:nvSpPr>
          <p:cNvPr id="34" name="Shape 34"/>
          <p:cNvSpPr/>
          <p:nvPr/>
        </p:nvSpPr>
        <p:spPr>
          <a:xfrm>
            <a:off x="4727448" y="1880006"/>
            <a:ext cx="201168" cy="263347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6" name="Shape 36"/>
          <p:cNvSpPr/>
          <p:nvPr/>
        </p:nvSpPr>
        <p:spPr>
          <a:xfrm>
            <a:off x="4974336" y="1600200"/>
            <a:ext cx="1828800" cy="82296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面力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F=-p n A</a:t>
            </a:r>
          </a:p>
        </p:txBody>
      </p:sp>
      <p:sp>
        <p:nvSpPr>
          <p:cNvPr id="37" name="Shape 37"/>
          <p:cNvSpPr/>
          <p:nvPr/>
        </p:nvSpPr>
        <p:spPr>
          <a:xfrm>
            <a:off x="6848855" y="1880006"/>
            <a:ext cx="201168" cy="263347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9" name="Shape 39"/>
          <p:cNvSpPr/>
          <p:nvPr/>
        </p:nvSpPr>
        <p:spPr>
          <a:xfrm>
            <a:off x="7095743" y="1600200"/>
            <a:ext cx="1828800" cy="82296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重心坐标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u,v,w</a:t>
            </a:r>
          </a:p>
        </p:txBody>
      </p:sp>
      <p:sp>
        <p:nvSpPr>
          <p:cNvPr id="40" name="Shape 40"/>
          <p:cNvSpPr/>
          <p:nvPr/>
        </p:nvSpPr>
        <p:spPr>
          <a:xfrm>
            <a:off x="8970263" y="1880006"/>
            <a:ext cx="201168" cy="263347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42" name="Shape 42"/>
          <p:cNvSpPr/>
          <p:nvPr/>
        </p:nvSpPr>
        <p:spPr>
          <a:xfrm>
            <a:off x="9217152" y="1600200"/>
            <a:ext cx="1828800" cy="8229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顶点外力</a:t>
            </a:r>
          </a:p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F_i</a:t>
            </a:r>
          </a:p>
        </p:txBody>
      </p:sp>
      <p:sp>
        <p:nvSpPr>
          <p:cNvPr id="70" name="Shape 70"/>
          <p:cNvSpPr/>
          <p:nvPr/>
        </p:nvSpPr>
        <p:spPr>
          <a:xfrm>
            <a:off x="960120" y="3794760"/>
            <a:ext cx="10195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800" b="1">
                <a:solidFill>
                  <a:srgbClr val="0B172A"/>
                </a:solidFill>
                <a:latin typeface="Microsoft YaHei"/>
                <a:ea typeface="Microsoft YaHei"/>
              </a:rPr>
              <a:t>F_i0 += u F_face      F_i1 += v F_face      F_i2 += w F_face</a:t>
            </a:r>
          </a:p>
          <a:p>
            <a:pPr algn="ctr"/>
            <a:r>
              <a:rPr lang="zh-CN" sz="18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800" b="1">
                <a:solidFill>
                  <a:srgbClr val="0B172A"/>
                </a:solidFill>
                <a:latin typeface="Microsoft YaHei"/>
                <a:ea typeface="Microsoft YaHei"/>
              </a:rPr>
              <a:t>最终进入 FEM 的同一套顶点自由度，作为外力推进固体。</a:t>
            </a:r>
          </a:p>
        </p:txBody>
      </p:sp>
      <p:sp>
        <p:nvSpPr>
          <p:cNvPr id="100" name="Shape 100"/>
          <p:cNvSpPr/>
          <p:nvPr/>
        </p:nvSpPr>
        <p:spPr>
          <a:xfrm>
            <a:off x="1051560" y="54864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1320" b="1">
                <a:solidFill>
                  <a:srgbClr val="EA580C"/>
                </a:solidFill>
                <a:latin typeface="Microsoft YaHei"/>
                <a:ea typeface="Microsoft YaHei"/>
              </a:rPr>
              <a:t>当前默认关闭 contact repulsion，主要观察 hydro pressure 贡献。</a:t>
            </a:r>
          </a:p>
        </p:txBody>
      </p:sp>
      <p:sp>
        <p:nvSpPr>
          <p:cNvPr id="900" name="Shape 900"/>
          <p:cNvSpPr/>
          <p:nvPr/>
        </p:nvSpPr>
        <p:spPr>
          <a:xfrm>
            <a:off x="502920" y="656539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Fish FSI Explicit Weak Coupling</a:t>
            </a:r>
          </a:p>
        </p:txBody>
      </p:sp>
      <p:sp>
        <p:nvSpPr>
          <p:cNvPr id="901" name="Shape 90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502920" y="256032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800" b="1">
                <a:solidFill>
                  <a:srgbClr val="0B172A"/>
                </a:solidFill>
                <a:latin typeface="Microsoft YaHei"/>
                <a:ea typeface="Microsoft YaHei"/>
              </a:rPr>
              <a:t>主要参数</a:t>
            </a:r>
          </a:p>
        </p:txBody>
      </p:sp>
      <p:sp>
        <p:nvSpPr>
          <p:cNvPr id="11" name="Shape 1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</a:rPr>
              <a:t>时间步、材料、流体与 VAP 参数</a:t>
            </a:r>
          </a:p>
        </p:txBody>
      </p:sp>
      <p:sp>
        <p:nvSpPr>
          <p:cNvPr id="12" name="Line 1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ln w="9000">
            <a:solidFill>
              <a:srgbClr val="E2E8F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548640" y="1234440"/>
            <a:ext cx="1143000" cy="65314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080" b="1">
                <a:solidFill>
                  <a:srgbClr val="0B172A"/>
                </a:solidFill>
                <a:latin typeface="Microsoft YaHei"/>
                <a:ea typeface="Microsoft YaHei"/>
              </a:rPr>
              <a:t>类别</a:t>
            </a:r>
          </a:p>
        </p:txBody>
      </p:sp>
      <p:sp>
        <p:nvSpPr>
          <p:cNvPr id="31" name="Shape 31"/>
          <p:cNvSpPr/>
          <p:nvPr/>
        </p:nvSpPr>
        <p:spPr>
          <a:xfrm>
            <a:off x="1691640" y="1234440"/>
            <a:ext cx="2468880" cy="65314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080" b="1">
                <a:solidFill>
                  <a:srgbClr val="0B172A"/>
                </a:solidFill>
                <a:latin typeface="Microsoft YaHei"/>
                <a:ea typeface="Microsoft YaHei"/>
              </a:rPr>
              <a:t>参数</a:t>
            </a:r>
          </a:p>
        </p:txBody>
      </p:sp>
      <p:sp>
        <p:nvSpPr>
          <p:cNvPr id="32" name="Shape 32"/>
          <p:cNvSpPr/>
          <p:nvPr/>
        </p:nvSpPr>
        <p:spPr>
          <a:xfrm>
            <a:off x="4160520" y="1234440"/>
            <a:ext cx="1783080" cy="65314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080" b="1">
                <a:solidFill>
                  <a:srgbClr val="0B172A"/>
                </a:solidFill>
                <a:latin typeface="Microsoft YaHei"/>
                <a:ea typeface="Microsoft YaHei"/>
              </a:rPr>
              <a:t>当前值</a:t>
            </a:r>
          </a:p>
        </p:txBody>
      </p:sp>
      <p:sp>
        <p:nvSpPr>
          <p:cNvPr id="33" name="Shape 33"/>
          <p:cNvSpPr/>
          <p:nvPr/>
        </p:nvSpPr>
        <p:spPr>
          <a:xfrm>
            <a:off x="548640" y="1887582"/>
            <a:ext cx="114300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耦合</a:t>
            </a:r>
          </a:p>
        </p:txBody>
      </p:sp>
      <p:sp>
        <p:nvSpPr>
          <p:cNvPr id="34" name="Shape 34"/>
          <p:cNvSpPr/>
          <p:nvPr/>
        </p:nvSpPr>
        <p:spPr>
          <a:xfrm>
            <a:off x="1691640" y="1887582"/>
            <a:ext cx="246888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固体频率</a:t>
            </a:r>
          </a:p>
        </p:txBody>
      </p:sp>
      <p:sp>
        <p:nvSpPr>
          <p:cNvPr id="35" name="Shape 35"/>
          <p:cNvSpPr/>
          <p:nvPr/>
        </p:nvSpPr>
        <p:spPr>
          <a:xfrm>
            <a:off x="4160520" y="1887582"/>
            <a:ext cx="178308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960 Hz</a:t>
            </a:r>
          </a:p>
        </p:txBody>
      </p:sp>
      <p:sp>
        <p:nvSpPr>
          <p:cNvPr id="36" name="Shape 36"/>
          <p:cNvSpPr/>
          <p:nvPr/>
        </p:nvSpPr>
        <p:spPr>
          <a:xfrm>
            <a:off x="548640" y="2540725"/>
            <a:ext cx="114300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耦合</a:t>
            </a:r>
          </a:p>
        </p:txBody>
      </p:sp>
      <p:sp>
        <p:nvSpPr>
          <p:cNvPr id="37" name="Shape 37"/>
          <p:cNvSpPr/>
          <p:nvPr/>
        </p:nvSpPr>
        <p:spPr>
          <a:xfrm>
            <a:off x="1691640" y="2540725"/>
            <a:ext cx="246888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流体子步</a:t>
            </a:r>
          </a:p>
        </p:txBody>
      </p:sp>
      <p:sp>
        <p:nvSpPr>
          <p:cNvPr id="38" name="Shape 38"/>
          <p:cNvSpPr/>
          <p:nvPr/>
        </p:nvSpPr>
        <p:spPr>
          <a:xfrm>
            <a:off x="4160520" y="2540725"/>
            <a:ext cx="178308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39" name="Shape 39"/>
          <p:cNvSpPr/>
          <p:nvPr/>
        </p:nvSpPr>
        <p:spPr>
          <a:xfrm>
            <a:off x="548640" y="3193868"/>
            <a:ext cx="114300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耦合</a:t>
            </a:r>
          </a:p>
        </p:txBody>
      </p:sp>
      <p:sp>
        <p:nvSpPr>
          <p:cNvPr id="40" name="Shape 40"/>
          <p:cNvSpPr/>
          <p:nvPr/>
        </p:nvSpPr>
        <p:spPr>
          <a:xfrm>
            <a:off x="1691640" y="3193868"/>
            <a:ext cx="246888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max vertex force</a:t>
            </a:r>
          </a:p>
        </p:txBody>
      </p:sp>
      <p:sp>
        <p:nvSpPr>
          <p:cNvPr id="41" name="Shape 41"/>
          <p:cNvSpPr/>
          <p:nvPr/>
        </p:nvSpPr>
        <p:spPr>
          <a:xfrm>
            <a:off x="4160520" y="3193868"/>
            <a:ext cx="178308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5 N</a:t>
            </a:r>
          </a:p>
        </p:txBody>
      </p:sp>
      <p:sp>
        <p:nvSpPr>
          <p:cNvPr id="42" name="Shape 42"/>
          <p:cNvSpPr/>
          <p:nvPr/>
        </p:nvSpPr>
        <p:spPr>
          <a:xfrm>
            <a:off x="548640" y="3847011"/>
            <a:ext cx="114300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固体</a:t>
            </a:r>
          </a:p>
        </p:txBody>
      </p:sp>
      <p:sp>
        <p:nvSpPr>
          <p:cNvPr id="43" name="Shape 43"/>
          <p:cNvSpPr/>
          <p:nvPr/>
        </p:nvSpPr>
        <p:spPr>
          <a:xfrm>
            <a:off x="1691640" y="3847011"/>
            <a:ext cx="246888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杨氏模量</a:t>
            </a:r>
          </a:p>
        </p:txBody>
      </p:sp>
      <p:sp>
        <p:nvSpPr>
          <p:cNvPr id="44" name="Shape 44"/>
          <p:cNvSpPr/>
          <p:nvPr/>
        </p:nvSpPr>
        <p:spPr>
          <a:xfrm>
            <a:off x="4160520" y="3847011"/>
            <a:ext cx="178308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2E5 / 4E5</a:t>
            </a:r>
          </a:p>
        </p:txBody>
      </p:sp>
      <p:sp>
        <p:nvSpPr>
          <p:cNvPr id="45" name="Shape 45"/>
          <p:cNvSpPr/>
          <p:nvPr/>
        </p:nvSpPr>
        <p:spPr>
          <a:xfrm>
            <a:off x="548640" y="4500154"/>
            <a:ext cx="114300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固体</a:t>
            </a:r>
          </a:p>
        </p:txBody>
      </p:sp>
      <p:sp>
        <p:nvSpPr>
          <p:cNvPr id="46" name="Shape 46"/>
          <p:cNvSpPr/>
          <p:nvPr/>
        </p:nvSpPr>
        <p:spPr>
          <a:xfrm>
            <a:off x="1691640" y="4500154"/>
            <a:ext cx="246888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泊松比</a:t>
            </a:r>
          </a:p>
        </p:txBody>
      </p:sp>
      <p:sp>
        <p:nvSpPr>
          <p:cNvPr id="47" name="Shape 47"/>
          <p:cNvSpPr/>
          <p:nvPr/>
        </p:nvSpPr>
        <p:spPr>
          <a:xfrm>
            <a:off x="4160520" y="4500154"/>
            <a:ext cx="178308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0.4</a:t>
            </a:r>
          </a:p>
        </p:txBody>
      </p:sp>
      <p:sp>
        <p:nvSpPr>
          <p:cNvPr id="48" name="Shape 48"/>
          <p:cNvSpPr/>
          <p:nvPr/>
        </p:nvSpPr>
        <p:spPr>
          <a:xfrm>
            <a:off x="548640" y="5153297"/>
            <a:ext cx="114300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固体</a:t>
            </a:r>
          </a:p>
        </p:txBody>
      </p:sp>
      <p:sp>
        <p:nvSpPr>
          <p:cNvPr id="49" name="Shape 49"/>
          <p:cNvSpPr/>
          <p:nvPr/>
        </p:nvSpPr>
        <p:spPr>
          <a:xfrm>
            <a:off x="1691640" y="5153297"/>
            <a:ext cx="246888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肌肉刚度</a:t>
            </a:r>
          </a:p>
        </p:txBody>
      </p:sp>
      <p:sp>
        <p:nvSpPr>
          <p:cNvPr id="50" name="Shape 50"/>
          <p:cNvSpPr/>
          <p:nvPr/>
        </p:nvSpPr>
        <p:spPr>
          <a:xfrm>
            <a:off x="4160520" y="5153297"/>
            <a:ext cx="178308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5E5</a:t>
            </a:r>
          </a:p>
        </p:txBody>
      </p:sp>
      <p:sp>
        <p:nvSpPr>
          <p:cNvPr id="70" name="Shape 70"/>
          <p:cNvSpPr/>
          <p:nvPr/>
        </p:nvSpPr>
        <p:spPr>
          <a:xfrm>
            <a:off x="6263640" y="1234440"/>
            <a:ext cx="1143000" cy="65314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080" b="1">
                <a:solidFill>
                  <a:srgbClr val="0B172A"/>
                </a:solidFill>
                <a:latin typeface="Microsoft YaHei"/>
                <a:ea typeface="Microsoft YaHei"/>
              </a:rPr>
              <a:t>类别</a:t>
            </a:r>
          </a:p>
        </p:txBody>
      </p:sp>
      <p:sp>
        <p:nvSpPr>
          <p:cNvPr id="71" name="Shape 71"/>
          <p:cNvSpPr/>
          <p:nvPr/>
        </p:nvSpPr>
        <p:spPr>
          <a:xfrm>
            <a:off x="7406640" y="1234440"/>
            <a:ext cx="2468880" cy="65314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080" b="1">
                <a:solidFill>
                  <a:srgbClr val="0B172A"/>
                </a:solidFill>
                <a:latin typeface="Microsoft YaHei"/>
                <a:ea typeface="Microsoft YaHei"/>
              </a:rPr>
              <a:t>参数</a:t>
            </a:r>
          </a:p>
        </p:txBody>
      </p:sp>
      <p:sp>
        <p:nvSpPr>
          <p:cNvPr id="72" name="Shape 72"/>
          <p:cNvSpPr/>
          <p:nvPr/>
        </p:nvSpPr>
        <p:spPr>
          <a:xfrm>
            <a:off x="9875520" y="1234440"/>
            <a:ext cx="1783080" cy="65314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080" b="1">
                <a:solidFill>
                  <a:srgbClr val="0B172A"/>
                </a:solidFill>
                <a:latin typeface="Microsoft YaHei"/>
                <a:ea typeface="Microsoft YaHei"/>
              </a:rPr>
              <a:t>当前值</a:t>
            </a:r>
          </a:p>
        </p:txBody>
      </p:sp>
      <p:sp>
        <p:nvSpPr>
          <p:cNvPr id="73" name="Shape 73"/>
          <p:cNvSpPr/>
          <p:nvPr/>
        </p:nvSpPr>
        <p:spPr>
          <a:xfrm>
            <a:off x="6263640" y="1887582"/>
            <a:ext cx="114300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流体</a:t>
            </a:r>
          </a:p>
        </p:txBody>
      </p:sp>
      <p:sp>
        <p:nvSpPr>
          <p:cNvPr id="74" name="Shape 74"/>
          <p:cNvSpPr/>
          <p:nvPr/>
        </p:nvSpPr>
        <p:spPr>
          <a:xfrm>
            <a:off x="7406640" y="1887582"/>
            <a:ext cx="246888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粒子间距</a:t>
            </a:r>
          </a:p>
        </p:txBody>
      </p:sp>
      <p:sp>
        <p:nvSpPr>
          <p:cNvPr id="75" name="Shape 75"/>
          <p:cNvSpPr/>
          <p:nvPr/>
        </p:nvSpPr>
        <p:spPr>
          <a:xfrm>
            <a:off x="9875520" y="1887582"/>
            <a:ext cx="178308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0.011</a:t>
            </a:r>
          </a:p>
        </p:txBody>
      </p:sp>
      <p:sp>
        <p:nvSpPr>
          <p:cNvPr id="76" name="Shape 76"/>
          <p:cNvSpPr/>
          <p:nvPr/>
        </p:nvSpPr>
        <p:spPr>
          <a:xfrm>
            <a:off x="6263640" y="2540725"/>
            <a:ext cx="114300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流体</a:t>
            </a:r>
          </a:p>
        </p:txBody>
      </p:sp>
      <p:sp>
        <p:nvSpPr>
          <p:cNvPr id="77" name="Shape 77"/>
          <p:cNvSpPr/>
          <p:nvPr/>
        </p:nvSpPr>
        <p:spPr>
          <a:xfrm>
            <a:off x="7406640" y="2540725"/>
            <a:ext cx="246888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参考密度</a:t>
            </a:r>
          </a:p>
        </p:txBody>
      </p:sp>
      <p:sp>
        <p:nvSpPr>
          <p:cNvPr id="78" name="Shape 78"/>
          <p:cNvSpPr/>
          <p:nvPr/>
        </p:nvSpPr>
        <p:spPr>
          <a:xfrm>
            <a:off x="9875520" y="2540725"/>
            <a:ext cx="178308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1000</a:t>
            </a:r>
          </a:p>
        </p:txBody>
      </p:sp>
      <p:sp>
        <p:nvSpPr>
          <p:cNvPr id="79" name="Shape 79"/>
          <p:cNvSpPr/>
          <p:nvPr/>
        </p:nvSpPr>
        <p:spPr>
          <a:xfrm>
            <a:off x="6263640" y="3193868"/>
            <a:ext cx="114300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流体</a:t>
            </a:r>
          </a:p>
        </p:txBody>
      </p:sp>
      <p:sp>
        <p:nvSpPr>
          <p:cNvPr id="80" name="Shape 80"/>
          <p:cNvSpPr/>
          <p:nvPr/>
        </p:nvSpPr>
        <p:spPr>
          <a:xfrm>
            <a:off x="7406640" y="3193868"/>
            <a:ext cx="246888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声速</a:t>
            </a:r>
          </a:p>
        </p:txBody>
      </p:sp>
      <p:sp>
        <p:nvSpPr>
          <p:cNvPr id="81" name="Shape 81"/>
          <p:cNvSpPr/>
          <p:nvPr/>
        </p:nvSpPr>
        <p:spPr>
          <a:xfrm>
            <a:off x="9875520" y="3193868"/>
            <a:ext cx="178308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20</a:t>
            </a:r>
          </a:p>
        </p:txBody>
      </p:sp>
      <p:sp>
        <p:nvSpPr>
          <p:cNvPr id="82" name="Shape 82"/>
          <p:cNvSpPr/>
          <p:nvPr/>
        </p:nvSpPr>
        <p:spPr>
          <a:xfrm>
            <a:off x="6263640" y="3847011"/>
            <a:ext cx="114300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VAP</a:t>
            </a:r>
          </a:p>
        </p:txBody>
      </p:sp>
      <p:sp>
        <p:nvSpPr>
          <p:cNvPr id="83" name="Shape 83"/>
          <p:cNvSpPr/>
          <p:nvPr/>
        </p:nvSpPr>
        <p:spPr>
          <a:xfrm>
            <a:off x="7406640" y="3847011"/>
            <a:ext cx="246888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band 半径</a:t>
            </a:r>
          </a:p>
        </p:txBody>
      </p:sp>
      <p:sp>
        <p:nvSpPr>
          <p:cNvPr id="84" name="Shape 84"/>
          <p:cNvSpPr/>
          <p:nvPr/>
        </p:nvSpPr>
        <p:spPr>
          <a:xfrm>
            <a:off x="9875520" y="3847011"/>
            <a:ext cx="178308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2.5h</a:t>
            </a:r>
          </a:p>
        </p:txBody>
      </p:sp>
      <p:sp>
        <p:nvSpPr>
          <p:cNvPr id="85" name="Shape 85"/>
          <p:cNvSpPr/>
          <p:nvPr/>
        </p:nvSpPr>
        <p:spPr>
          <a:xfrm>
            <a:off x="6263640" y="4500154"/>
            <a:ext cx="114300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VAP</a:t>
            </a:r>
          </a:p>
        </p:txBody>
      </p:sp>
      <p:sp>
        <p:nvSpPr>
          <p:cNvPr id="86" name="Shape 86"/>
          <p:cNvSpPr/>
          <p:nvPr/>
        </p:nvSpPr>
        <p:spPr>
          <a:xfrm>
            <a:off x="7406640" y="4500154"/>
            <a:ext cx="246888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CG 迭代/容差</a:t>
            </a:r>
          </a:p>
        </p:txBody>
      </p:sp>
      <p:sp>
        <p:nvSpPr>
          <p:cNvPr id="87" name="Shape 87"/>
          <p:cNvSpPr/>
          <p:nvPr/>
        </p:nvSpPr>
        <p:spPr>
          <a:xfrm>
            <a:off x="9875520" y="4500154"/>
            <a:ext cx="178308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50 / 0.1</a:t>
            </a:r>
          </a:p>
        </p:txBody>
      </p:sp>
      <p:sp>
        <p:nvSpPr>
          <p:cNvPr id="88" name="Shape 88"/>
          <p:cNvSpPr/>
          <p:nvPr/>
        </p:nvSpPr>
        <p:spPr>
          <a:xfrm>
            <a:off x="6263640" y="5153297"/>
            <a:ext cx="114300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VAP</a:t>
            </a:r>
          </a:p>
        </p:txBody>
      </p:sp>
      <p:sp>
        <p:nvSpPr>
          <p:cNvPr id="89" name="Shape 89"/>
          <p:cNvSpPr/>
          <p:nvPr/>
        </p:nvSpPr>
        <p:spPr>
          <a:xfrm>
            <a:off x="7406640" y="5153297"/>
            <a:ext cx="246888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ghost scale</a:t>
            </a:r>
          </a:p>
        </p:txBody>
      </p:sp>
      <p:sp>
        <p:nvSpPr>
          <p:cNvPr id="90" name="Shape 90"/>
          <p:cNvSpPr/>
          <p:nvPr/>
        </p:nvSpPr>
        <p:spPr>
          <a:xfrm>
            <a:off x="9875520" y="5153297"/>
            <a:ext cx="1783080" cy="653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l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</a:rPr>
              <a:t>0.02 / 0.05</a:t>
            </a:r>
          </a:p>
        </p:txBody>
      </p:sp>
      <p:sp>
        <p:nvSpPr>
          <p:cNvPr id="900" name="Shape 900"/>
          <p:cNvSpPr/>
          <p:nvPr/>
        </p:nvSpPr>
        <p:spPr>
          <a:xfrm>
            <a:off x="502920" y="656539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Fish FSI Explicit Weak Coupling</a:t>
            </a:r>
          </a:p>
        </p:txBody>
      </p:sp>
      <p:sp>
        <p:nvSpPr>
          <p:cNvPr id="901" name="Shape 90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502920" y="256032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800" b="1">
                <a:solidFill>
                  <a:srgbClr val="0B172A"/>
                </a:solidFill>
                <a:latin typeface="Microsoft YaHei"/>
                <a:ea typeface="Microsoft YaHei"/>
              </a:rPr>
              <a:t>诊断指标与实验入口</a:t>
            </a:r>
          </a:p>
        </p:txBody>
      </p:sp>
      <p:sp>
        <p:nvSpPr>
          <p:cNvPr id="11" name="Shape 1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</a:rPr>
              <a:t>不只看动画，还检查数值稳定性与物理量</a:t>
            </a:r>
          </a:p>
        </p:txBody>
      </p:sp>
      <p:sp>
        <p:nvSpPr>
          <p:cNvPr id="12" name="Line 1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ln w="9000">
            <a:solidFill>
              <a:srgbClr val="E2E8F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685800" y="1280160"/>
            <a:ext cx="3383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1" name="Shape 31"/>
          <p:cNvSpPr/>
          <p:nvPr/>
        </p:nvSpPr>
        <p:spPr>
          <a:xfrm>
            <a:off x="685800" y="1280160"/>
            <a:ext cx="73152" cy="4434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2" name="Shape 32"/>
          <p:cNvSpPr/>
          <p:nvPr/>
        </p:nvSpPr>
        <p:spPr>
          <a:xfrm>
            <a:off x="886968" y="1417319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固体稳定性</a:t>
            </a:r>
          </a:p>
        </p:txBody>
      </p:sp>
      <p:sp>
        <p:nvSpPr>
          <p:cNvPr id="33" name="Shape 33"/>
          <p:cNvSpPr/>
          <p:nvPr/>
        </p:nvSpPr>
        <p:spPr>
          <a:xfrm>
            <a:off x="914400" y="1810512"/>
            <a:ext cx="2971800" cy="3794759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volume_ratio 接近 1</a:t>
            </a:r>
          </a:p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min/max tet ratio</a:t>
            </a:r>
          </a:p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inverted_tets = 0 更理想</a:t>
            </a:r>
          </a:p>
        </p:txBody>
      </p:sp>
      <p:sp>
        <p:nvSpPr>
          <p:cNvPr id="50" name="Shape 50"/>
          <p:cNvSpPr/>
          <p:nvPr/>
        </p:nvSpPr>
        <p:spPr>
          <a:xfrm>
            <a:off x="4407408" y="1280160"/>
            <a:ext cx="3383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51" name="Shape 51"/>
          <p:cNvSpPr/>
          <p:nvPr/>
        </p:nvSpPr>
        <p:spPr>
          <a:xfrm>
            <a:off x="4407408" y="1280160"/>
            <a:ext cx="73152" cy="4434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52" name="Shape 52"/>
          <p:cNvSpPr/>
          <p:nvPr/>
        </p:nvSpPr>
        <p:spPr>
          <a:xfrm>
            <a:off x="4608576" y="1417319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流体/界面</a:t>
            </a:r>
          </a:p>
        </p:txBody>
      </p:sp>
      <p:sp>
        <p:nvSpPr>
          <p:cNvPr id="53" name="Shape 53"/>
          <p:cNvSpPr/>
          <p:nvPr/>
        </p:nvSpPr>
        <p:spPr>
          <a:xfrm>
            <a:off x="4636008" y="1810512"/>
            <a:ext cx="2971800" cy="3794759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表面水压力非零比例</a:t>
            </a:r>
          </a:p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contact/hydro/total 分轨</a:t>
            </a:r>
          </a:p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绕质心力矩与合力</a:t>
            </a:r>
          </a:p>
        </p:txBody>
      </p:sp>
      <p:sp>
        <p:nvSpPr>
          <p:cNvPr id="70" name="Shape 70"/>
          <p:cNvSpPr/>
          <p:nvPr/>
        </p:nvSpPr>
        <p:spPr>
          <a:xfrm>
            <a:off x="8119872" y="1280160"/>
            <a:ext cx="3383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71" name="Shape 71"/>
          <p:cNvSpPr/>
          <p:nvPr/>
        </p:nvSpPr>
        <p:spPr>
          <a:xfrm>
            <a:off x="8119872" y="1280160"/>
            <a:ext cx="73152" cy="4434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72" name="Shape 72"/>
          <p:cNvSpPr/>
          <p:nvPr/>
        </p:nvSpPr>
        <p:spPr>
          <a:xfrm>
            <a:off x="8321040" y="1417319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运行入口</a:t>
            </a:r>
          </a:p>
        </p:txBody>
      </p:sp>
      <p:sp>
        <p:nvSpPr>
          <p:cNvPr id="73" name="Shape 73"/>
          <p:cNvSpPr/>
          <p:nvPr/>
        </p:nvSpPr>
        <p:spPr>
          <a:xfrm>
            <a:off x="8348472" y="1810512"/>
            <a:ext cx="2971800" cy="3794759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hydro_30frame: 快速稳定性</a:t>
            </a:r>
          </a:p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fsi_force_snapshot: 顶点力快照</a:t>
            </a:r>
          </a:p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vap_particle_trace: 近壁粒子追踪</a:t>
            </a:r>
          </a:p>
        </p:txBody>
      </p:sp>
      <p:sp>
        <p:nvSpPr>
          <p:cNvPr id="900" name="Shape 900"/>
          <p:cNvSpPr/>
          <p:nvPr/>
        </p:nvSpPr>
        <p:spPr>
          <a:xfrm>
            <a:off x="502920" y="656539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Fish FSI Explicit Weak Coupling</a:t>
            </a:r>
          </a:p>
        </p:txBody>
      </p:sp>
      <p:sp>
        <p:nvSpPr>
          <p:cNvPr id="901" name="Shape 90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502920" y="256032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800" b="1">
                <a:solidFill>
                  <a:srgbClr val="0B172A"/>
                </a:solidFill>
                <a:latin typeface="Microsoft YaHei"/>
                <a:ea typeface="Microsoft YaHei"/>
              </a:rPr>
              <a:t>可视化与输出</a:t>
            </a:r>
          </a:p>
        </p:txBody>
      </p:sp>
      <p:sp>
        <p:nvSpPr>
          <p:cNvPr id="11" name="Shape 1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</a:rPr>
              <a:t>适合汇报展示的结果形式</a:t>
            </a:r>
          </a:p>
        </p:txBody>
      </p:sp>
      <p:sp>
        <p:nvSpPr>
          <p:cNvPr id="12" name="Line 1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ln w="9000">
            <a:solidFill>
              <a:srgbClr val="E2E8F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777240" y="1325880"/>
            <a:ext cx="3337560" cy="45262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rtlCol="0"/>
          <a:lstStyle/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实时可视化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鱼体表面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四面体网格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肌肉线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轨迹/坐标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流体粒子</a:t>
            </a:r>
          </a:p>
        </p:txBody>
      </p:sp>
      <p:sp>
        <p:nvSpPr>
          <p:cNvPr id="50" name="Shape 50"/>
          <p:cNvSpPr/>
          <p:nvPr/>
        </p:nvSpPr>
        <p:spPr>
          <a:xfrm>
            <a:off x="4434840" y="1325880"/>
            <a:ext cx="3337560" cy="452628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5EEAD4"/>
            </a:solidFill>
          </a:ln>
        </p:spPr>
        <p:txBody>
          <a:bodyPr wrap="square" rtlCol="0"/>
          <a:lstStyle/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力场快照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contact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hydro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total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faces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positions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力矩</a:t>
            </a:r>
          </a:p>
        </p:txBody>
      </p:sp>
      <p:sp>
        <p:nvSpPr>
          <p:cNvPr id="70" name="Shape 70"/>
          <p:cNvSpPr/>
          <p:nvPr/>
        </p:nvSpPr>
        <p:spPr>
          <a:xfrm>
            <a:off x="8092440" y="1325880"/>
            <a:ext cx="3337560" cy="45262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DBA74"/>
            </a:solidFill>
          </a:ln>
        </p:spPr>
        <p:txBody>
          <a:bodyPr wrap="square" rtlCol="0"/>
          <a:lstStyle/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后处理图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压力分布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无偏位移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VAP band 诊断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粒子轨迹</a:t>
            </a:r>
          </a:p>
          <a:p>
            <a:pPr algn="ctr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参数扫表</a:t>
            </a:r>
          </a:p>
        </p:txBody>
      </p:sp>
      <p:sp>
        <p:nvSpPr>
          <p:cNvPr id="100" name="Shape 100"/>
          <p:cNvSpPr/>
          <p:nvPr/>
        </p:nvSpPr>
        <p:spPr>
          <a:xfrm>
            <a:off x="914400" y="585216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1300">
                <a:solidFill>
                  <a:srgbClr val="475569"/>
                </a:solidFill>
                <a:latin typeface="Microsoft YaHei"/>
                <a:ea typeface="Microsoft YaHei"/>
              </a:rPr>
              <a:t>建议演示顺序：正弦肌肉摆动 → 表面压力快照 → 体积/翻转诊断 → VAP 粒子追踪。</a:t>
            </a:r>
          </a:p>
        </p:txBody>
      </p:sp>
      <p:sp>
        <p:nvSpPr>
          <p:cNvPr id="900" name="Shape 900"/>
          <p:cNvSpPr/>
          <p:nvPr/>
        </p:nvSpPr>
        <p:spPr>
          <a:xfrm>
            <a:off x="502920" y="656539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Fish FSI Explicit Weak Coupling</a:t>
            </a:r>
          </a:p>
        </p:txBody>
      </p:sp>
      <p:sp>
        <p:nvSpPr>
          <p:cNvPr id="901" name="Shape 90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502920" y="256032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800" b="1">
                <a:solidFill>
                  <a:srgbClr val="0B172A"/>
                </a:solidFill>
                <a:latin typeface="Microsoft YaHei"/>
                <a:ea typeface="Microsoft YaHei"/>
              </a:rPr>
              <a:t>当前亮点与限制</a:t>
            </a:r>
          </a:p>
        </p:txBody>
      </p:sp>
      <p:sp>
        <p:nvSpPr>
          <p:cNvPr id="11" name="Shape 1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</a:rPr>
              <a:t>完整链路已经搭建，后续重点在物理标定和强耦合</a:t>
            </a:r>
          </a:p>
        </p:txBody>
      </p:sp>
      <p:sp>
        <p:nvSpPr>
          <p:cNvPr id="12" name="Line 1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ln w="9000">
            <a:solidFill>
              <a:srgbClr val="E2E8F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685800" y="1234440"/>
            <a:ext cx="52578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1" name="Shape 31"/>
          <p:cNvSpPr/>
          <p:nvPr/>
        </p:nvSpPr>
        <p:spPr>
          <a:xfrm>
            <a:off x="685800" y="1234440"/>
            <a:ext cx="73152" cy="4663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2" name="Shape 32"/>
          <p:cNvSpPr/>
          <p:nvPr/>
        </p:nvSpPr>
        <p:spPr>
          <a:xfrm>
            <a:off x="886968" y="1371600"/>
            <a:ext cx="489204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亮点</a:t>
            </a:r>
          </a:p>
        </p:txBody>
      </p:sp>
      <p:sp>
        <p:nvSpPr>
          <p:cNvPr id="33" name="Shape 33"/>
          <p:cNvSpPr/>
          <p:nvPr/>
        </p:nvSpPr>
        <p:spPr>
          <a:xfrm>
            <a:off x="914400" y="1764792"/>
            <a:ext cx="4846320" cy="4023359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完整鱼体 FSI 显式弱耦合链路</a:t>
            </a:r>
          </a:p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固体侧能处理软体大变形和主动肌肉驱动</a:t>
            </a:r>
          </a:p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流体侧 GPU WCSPH，近壁 VAP 改善压力覆盖</a:t>
            </a:r>
          </a:p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提供压力、力矩、体积、翻转和粒子级诊断</a:t>
            </a:r>
          </a:p>
        </p:txBody>
      </p:sp>
      <p:sp>
        <p:nvSpPr>
          <p:cNvPr id="60" name="Shape 60"/>
          <p:cNvSpPr/>
          <p:nvPr/>
        </p:nvSpPr>
        <p:spPr>
          <a:xfrm>
            <a:off x="6263640" y="1234440"/>
            <a:ext cx="52578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1" name="Shape 61"/>
          <p:cNvSpPr/>
          <p:nvPr/>
        </p:nvSpPr>
        <p:spPr>
          <a:xfrm>
            <a:off x="6263640" y="1234440"/>
            <a:ext cx="73152" cy="4663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rtlCol="0"/>
          <a:lstStyle/>
          <a:p>
            <a:pPr algn="ctr"/>
            <a:r>
              <a:rPr lang="zh-CN" sz="2000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2" name="Shape 62"/>
          <p:cNvSpPr/>
          <p:nvPr/>
        </p:nvSpPr>
        <p:spPr>
          <a:xfrm>
            <a:off x="6464807" y="1371600"/>
            <a:ext cx="489204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600" b="1">
                <a:solidFill>
                  <a:srgbClr val="0B172A"/>
                </a:solidFill>
                <a:latin typeface="Microsoft YaHei"/>
                <a:ea typeface="Microsoft YaHei"/>
              </a:rPr>
              <a:t>限制与后续</a:t>
            </a:r>
          </a:p>
        </p:txBody>
      </p:sp>
      <p:sp>
        <p:nvSpPr>
          <p:cNvPr id="63" name="Shape 63"/>
          <p:cNvSpPr/>
          <p:nvPr/>
        </p:nvSpPr>
        <p:spPr>
          <a:xfrm>
            <a:off x="6492240" y="1764792"/>
            <a:ext cx="4846320" cy="4023359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当前不是强耦合，界面没有每步迭代平衡</a:t>
            </a:r>
          </a:p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材料、肌肉与流体参数仍需实验标定</a:t>
            </a:r>
          </a:p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SPH 分辨率有限，近壁仍依赖 ghost/VAP 参数</a:t>
            </a:r>
          </a:p>
          <a:p>
            <a:pPr marL="285750" indent="-171450" algn="l">
              <a:buFont typeface="Arial"/>
              <a:buChar char="•"/>
            </a:pPr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</a:rPr>
              <a:t>后续可加入半隐式 FSI、推进效率和涡结构分析</a:t>
            </a:r>
          </a:p>
        </p:txBody>
      </p:sp>
      <p:sp>
        <p:nvSpPr>
          <p:cNvPr id="900" name="Shape 900"/>
          <p:cNvSpPr/>
          <p:nvPr/>
        </p:nvSpPr>
        <p:spPr>
          <a:xfrm>
            <a:off x="502920" y="656539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Fish FSI Explicit Weak Coupling</a:t>
            </a:r>
          </a:p>
        </p:txBody>
      </p:sp>
      <p:sp>
        <p:nvSpPr>
          <p:cNvPr id="901" name="Shape 90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502920" y="256032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800" b="1">
                <a:solidFill>
                  <a:srgbClr val="0B172A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11" name="Shape 1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</a:rPr>
              <a:t>鱼体游动 FSI 的显式弱耦合仿真方法</a:t>
            </a:r>
          </a:p>
        </p:txBody>
      </p:sp>
      <p:sp>
        <p:nvSpPr>
          <p:cNvPr id="12" name="Line 1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ln w="9000">
            <a:solidFill>
              <a:srgbClr val="E2E8F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868680" y="1371600"/>
            <a:ext cx="104698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2100" b="1">
                <a:solidFill>
                  <a:srgbClr val="0B172A"/>
                </a:solidFill>
                <a:latin typeface="Microsoft YaHei"/>
                <a:ea typeface="Microsoft YaHei"/>
              </a:rPr>
              <a:t>本项目实现了：</a:t>
            </a:r>
          </a:p>
          <a:p>
            <a:pPr algn="ctr"/>
            <a:r>
              <a:rPr lang="zh-CN" sz="21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2100" b="1">
                <a:solidFill>
                  <a:srgbClr val="0B172A"/>
                </a:solidFill>
                <a:latin typeface="Microsoft YaHei"/>
                <a:ea typeface="Microsoft YaHei"/>
              </a:rPr>
              <a:t>软体鱼 FEM + 肌肉主动波驱动 + WCSPH 粒子流体 + VAP 近壁压力投影 + 表面压力回传。</a:t>
            </a:r>
          </a:p>
          <a:p>
            <a:pPr algn="ctr"/>
            <a:r>
              <a:rPr lang="zh-CN" sz="2100" b="1">
                <a:solidFill>
                  <a:srgbClr val="0B172A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2100" b="1">
                <a:solidFill>
                  <a:srgbClr val="0B172A"/>
                </a:solidFill>
                <a:latin typeface="Microsoft YaHei"/>
                <a:ea typeface="Microsoft YaHei"/>
              </a:rPr>
              <a:t>核心思想是把复杂的强耦合问题拆成可验证、可诊断的显式弱耦合流程。</a:t>
            </a:r>
          </a:p>
        </p:txBody>
      </p:sp>
      <p:sp>
        <p:nvSpPr>
          <p:cNvPr id="80" name="Shape 80"/>
          <p:cNvSpPr/>
          <p:nvPr/>
        </p:nvSpPr>
        <p:spPr>
          <a:xfrm>
            <a:off x="1280160" y="4892040"/>
            <a:ext cx="205740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固体大变形</a:t>
            </a:r>
          </a:p>
        </p:txBody>
      </p:sp>
      <p:sp>
        <p:nvSpPr>
          <p:cNvPr id="81" name="Shape 81"/>
          <p:cNvSpPr/>
          <p:nvPr/>
        </p:nvSpPr>
        <p:spPr>
          <a:xfrm>
            <a:off x="3383279" y="5140756"/>
            <a:ext cx="411480" cy="23408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83" name="Shape 83"/>
          <p:cNvSpPr/>
          <p:nvPr/>
        </p:nvSpPr>
        <p:spPr>
          <a:xfrm>
            <a:off x="3840479" y="4892040"/>
            <a:ext cx="2057400" cy="7315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近壁压力</a:t>
            </a:r>
          </a:p>
        </p:txBody>
      </p:sp>
      <p:sp>
        <p:nvSpPr>
          <p:cNvPr id="84" name="Shape 84"/>
          <p:cNvSpPr/>
          <p:nvPr/>
        </p:nvSpPr>
        <p:spPr>
          <a:xfrm>
            <a:off x="5943599" y="5140756"/>
            <a:ext cx="411480" cy="23408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86" name="Shape 86"/>
          <p:cNvSpPr/>
          <p:nvPr/>
        </p:nvSpPr>
        <p:spPr>
          <a:xfrm>
            <a:off x="6400800" y="4892040"/>
            <a:ext cx="2057400" cy="7315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界面受力</a:t>
            </a:r>
          </a:p>
        </p:txBody>
      </p:sp>
      <p:sp>
        <p:nvSpPr>
          <p:cNvPr id="87" name="Shape 87"/>
          <p:cNvSpPr/>
          <p:nvPr/>
        </p:nvSpPr>
        <p:spPr>
          <a:xfrm>
            <a:off x="8503920" y="5140756"/>
            <a:ext cx="411480" cy="23408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89" name="Shape 89"/>
          <p:cNvSpPr/>
          <p:nvPr/>
        </p:nvSpPr>
        <p:spPr>
          <a:xfrm>
            <a:off x="8961119" y="4892040"/>
            <a:ext cx="2057400" cy="7315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pPr algn="ctr"/>
            <a:r>
              <a:rPr lang="zh-CN" sz="1150" b="1">
                <a:solidFill>
                  <a:srgbClr val="0B172A"/>
                </a:solidFill>
                <a:latin typeface="Microsoft YaHei"/>
                <a:ea typeface="Microsoft YaHei"/>
              </a:rPr>
              <a:t>稳定诊断</a:t>
            </a:r>
          </a:p>
        </p:txBody>
      </p:sp>
      <p:sp>
        <p:nvSpPr>
          <p:cNvPr id="900" name="Shape 900"/>
          <p:cNvSpPr/>
          <p:nvPr/>
        </p:nvSpPr>
        <p:spPr>
          <a:xfrm>
            <a:off x="502920" y="656539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Fish FSI Explicit Weak Coupling</a:t>
            </a:r>
          </a:p>
        </p:txBody>
      </p:sp>
      <p:sp>
        <p:nvSpPr>
          <p:cNvPr id="901" name="Shape 90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50">
                <a:solidFill>
                  <a:srgbClr val="64748B"/>
                </a:solidFill>
                <a:latin typeface="Microsoft YaHei"/>
                <a:ea typeface="Microsoft YaHe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 Tech">
  <a:themeElements>
    <a:clrScheme name="Academic Tech">
      <a:dk1>
        <a:srgbClr val="0B172A"/>
      </a:dk1>
      <a:lt1>
        <a:srgbClr val="FFFFFF"/>
      </a:lt1>
      <a:dk2>
        <a:srgbClr val="334155"/>
      </a:dk2>
      <a:lt2>
        <a:srgbClr val="F7FAFC"/>
      </a:lt2>
      <a:accent1>
        <a:srgbClr val="2563EB"/>
      </a:accent1>
      <a:accent2>
        <a:srgbClr val="0F766E"/>
      </a:accent2>
      <a:accent3>
        <a:srgbClr val="EA580C"/>
      </a:accent3>
      <a:accent4>
        <a:srgbClr val="7C3AED"/>
      </a:accent4>
      <a:accent5>
        <a:srgbClr val="0891B2"/>
      </a:accent5>
      <a:accent6>
        <a:srgbClr val="16A34A"/>
      </a:accent6>
      <a:hlink>
        <a:srgbClr val="2563EB"/>
      </a:hlink>
      <a:folHlink>
        <a:srgbClr val="7C3AED"/>
      </a:folHlink>
    </a:clrScheme>
    <a:fontScheme name="Microsoft YaHei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Clea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OOXML Generator</Application>
  <PresentationFormat>Widescreen</PresentationFormat>
  <Slides>21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鱼体游动 FSI 显式弱耦合仿真</dc:title>
  <dc:creator>Codex</dc:creator>
  <cp:lastModifiedBy>Codex</cp:lastModifiedBy>
  <dcterms:created xsi:type="dcterms:W3CDTF">2026-06-18T08:56:44.155671+00:00</dcterms:created>
  <dcterms:modified xsi:type="dcterms:W3CDTF">2026-06-18T08:56:44.155671+00:00</dcterms:modified>
</cp:coreProperties>
</file>